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DM Sans Bold" charset="1" panose="00000000000000000000"/>
      <p:regular r:id="rId22"/>
    </p:embeddedFont>
    <p:embeddedFont>
      <p:font typeface="DM Sans"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2.jpe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0.jpeg" Type="http://schemas.openxmlformats.org/officeDocument/2006/relationships/image"/><Relationship Id="rId5" Target="../media/image4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4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sp>
        <p:nvSpPr>
          <p:cNvPr name="Freeform 3" id="3"/>
          <p:cNvSpPr/>
          <p:nvPr/>
        </p:nvSpPr>
        <p:spPr>
          <a:xfrm flipH="false" flipV="false" rot="0">
            <a:off x="14021381" y="2514885"/>
            <a:ext cx="5233450" cy="4114800"/>
          </a:xfrm>
          <a:custGeom>
            <a:avLst/>
            <a:gdLst/>
            <a:ahLst/>
            <a:cxnLst/>
            <a:rect r="r" b="b" t="t" l="l"/>
            <a:pathLst>
              <a:path h="4114800" w="5233450">
                <a:moveTo>
                  <a:pt x="0" y="0"/>
                </a:moveTo>
                <a:lnTo>
                  <a:pt x="5233450" y="0"/>
                </a:lnTo>
                <a:lnTo>
                  <a:pt x="52334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537374" y="5566280"/>
            <a:ext cx="4219451" cy="3692020"/>
          </a:xfrm>
          <a:custGeom>
            <a:avLst/>
            <a:gdLst/>
            <a:ahLst/>
            <a:cxnLst/>
            <a:rect r="r" b="b" t="t" l="l"/>
            <a:pathLst>
              <a:path h="3692020" w="4219451">
                <a:moveTo>
                  <a:pt x="4219452" y="0"/>
                </a:moveTo>
                <a:lnTo>
                  <a:pt x="0" y="0"/>
                </a:lnTo>
                <a:lnTo>
                  <a:pt x="0" y="3692020"/>
                </a:lnTo>
                <a:lnTo>
                  <a:pt x="4219452" y="3692020"/>
                </a:lnTo>
                <a:lnTo>
                  <a:pt x="421945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838303" y="5394284"/>
            <a:ext cx="4484796" cy="4114800"/>
          </a:xfrm>
          <a:custGeom>
            <a:avLst/>
            <a:gdLst/>
            <a:ahLst/>
            <a:cxnLst/>
            <a:rect r="r" b="b" t="t" l="l"/>
            <a:pathLst>
              <a:path h="4114800" w="4484796">
                <a:moveTo>
                  <a:pt x="0" y="0"/>
                </a:moveTo>
                <a:lnTo>
                  <a:pt x="4484796" y="0"/>
                </a:lnTo>
                <a:lnTo>
                  <a:pt x="448479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028700" y="819150"/>
            <a:ext cx="16230600" cy="2971987"/>
          </a:xfrm>
          <a:prstGeom prst="rect">
            <a:avLst/>
          </a:prstGeom>
        </p:spPr>
        <p:txBody>
          <a:bodyPr anchor="t" rtlCol="false" tIns="0" lIns="0" bIns="0" rIns="0">
            <a:spAutoFit/>
          </a:bodyPr>
          <a:lstStyle/>
          <a:p>
            <a:pPr algn="l">
              <a:lnSpc>
                <a:spcPts val="11254"/>
              </a:lnSpc>
            </a:pPr>
            <a:r>
              <a:rPr lang="en-US" sz="12504" b="true">
                <a:solidFill>
                  <a:srgbClr val="62463C"/>
                </a:solidFill>
                <a:latin typeface="DM Sans Bold"/>
                <a:ea typeface="DM Sans Bold"/>
                <a:cs typeface="DM Sans Bold"/>
                <a:sym typeface="DM Sans Bold"/>
              </a:rPr>
              <a:t>Real-Time Hand Gesture Recognition</a:t>
            </a:r>
          </a:p>
        </p:txBody>
      </p:sp>
      <p:sp>
        <p:nvSpPr>
          <p:cNvPr name="TextBox 7" id="7"/>
          <p:cNvSpPr txBox="true"/>
          <p:nvPr/>
        </p:nvSpPr>
        <p:spPr>
          <a:xfrm rot="0">
            <a:off x="1028700" y="3812825"/>
            <a:ext cx="7752103" cy="1576070"/>
          </a:xfrm>
          <a:prstGeom prst="rect">
            <a:avLst/>
          </a:prstGeom>
        </p:spPr>
        <p:txBody>
          <a:bodyPr anchor="t" rtlCol="false" tIns="0" lIns="0" bIns="0" rIns="0">
            <a:spAutoFit/>
          </a:bodyPr>
          <a:lstStyle/>
          <a:p>
            <a:pPr algn="l">
              <a:lnSpc>
                <a:spcPts val="6160"/>
              </a:lnSpc>
            </a:pPr>
            <a:r>
              <a:rPr lang="en-US" sz="5600">
                <a:solidFill>
                  <a:srgbClr val="62463C"/>
                </a:solidFill>
                <a:latin typeface="DM Sans"/>
                <a:ea typeface="DM Sans"/>
                <a:cs typeface="DM Sans"/>
                <a:sym typeface="DM Sans"/>
              </a:rPr>
              <a:t>Via Fine-Tuned EfficientNet-B0</a:t>
            </a:r>
          </a:p>
        </p:txBody>
      </p:sp>
      <p:sp>
        <p:nvSpPr>
          <p:cNvPr name="TextBox 8" id="8"/>
          <p:cNvSpPr txBox="true"/>
          <p:nvPr/>
        </p:nvSpPr>
        <p:spPr>
          <a:xfrm rot="0">
            <a:off x="1066800" y="8776335"/>
            <a:ext cx="3360723"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Deep Learning</a:t>
            </a:r>
          </a:p>
        </p:txBody>
      </p:sp>
      <p:sp>
        <p:nvSpPr>
          <p:cNvPr name="TextBox 9" id="9"/>
          <p:cNvSpPr txBox="true"/>
          <p:nvPr/>
        </p:nvSpPr>
        <p:spPr>
          <a:xfrm rot="0">
            <a:off x="5565738" y="8776335"/>
            <a:ext cx="3360723" cy="481965"/>
          </a:xfrm>
          <a:prstGeom prst="rect">
            <a:avLst/>
          </a:prstGeom>
        </p:spPr>
        <p:txBody>
          <a:bodyPr anchor="t" rtlCol="false" tIns="0" lIns="0" bIns="0" rIns="0">
            <a:spAutoFit/>
          </a:bodyPr>
          <a:lstStyle/>
          <a:p>
            <a:pPr algn="l">
              <a:lnSpc>
                <a:spcPts val="3600"/>
              </a:lnSpc>
            </a:pPr>
            <a:r>
              <a:rPr lang="en-US" sz="3600">
                <a:solidFill>
                  <a:srgbClr val="62463C"/>
                </a:solidFill>
                <a:latin typeface="DM Sans"/>
                <a:ea typeface="DM Sans"/>
                <a:cs typeface="DM Sans"/>
                <a:sym typeface="DM Sans"/>
              </a:rPr>
              <a:t>2026 May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66800" y="1066800"/>
            <a:ext cx="5124822" cy="596265"/>
          </a:xfrm>
          <a:prstGeom prst="rect">
            <a:avLst/>
          </a:prstGeom>
        </p:spPr>
        <p:txBody>
          <a:bodyPr anchor="t" rtlCol="false" tIns="0" lIns="0" bIns="0" rIns="0">
            <a:spAutoFit/>
          </a:bodyPr>
          <a:lstStyle/>
          <a:p>
            <a:pPr algn="l">
              <a:lnSpc>
                <a:spcPts val="4620"/>
              </a:lnSpc>
            </a:pPr>
            <a:r>
              <a:rPr lang="en-US" sz="4200" b="true">
                <a:solidFill>
                  <a:srgbClr val="62463C"/>
                </a:solidFill>
                <a:latin typeface="DM Sans Bold"/>
                <a:ea typeface="DM Sans Bold"/>
                <a:cs typeface="DM Sans Bold"/>
                <a:sym typeface="DM Sans Bold"/>
              </a:rPr>
              <a:t>Table of Contents</a:t>
            </a:r>
          </a:p>
        </p:txBody>
      </p:sp>
      <p:sp>
        <p:nvSpPr>
          <p:cNvPr name="TextBox 7" id="7"/>
          <p:cNvSpPr txBox="true"/>
          <p:nvPr/>
        </p:nvSpPr>
        <p:spPr>
          <a:xfrm rot="0">
            <a:off x="1066800" y="4782603"/>
            <a:ext cx="4013405"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Group Members</a:t>
            </a:r>
          </a:p>
        </p:txBody>
      </p:sp>
      <p:sp>
        <p:nvSpPr>
          <p:cNvPr name="TextBox 8" id="8"/>
          <p:cNvSpPr txBox="true"/>
          <p:nvPr/>
        </p:nvSpPr>
        <p:spPr>
          <a:xfrm rot="0">
            <a:off x="5816625" y="4782603"/>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3</a:t>
            </a:r>
          </a:p>
        </p:txBody>
      </p:sp>
      <p:sp>
        <p:nvSpPr>
          <p:cNvPr name="TextBox 9" id="9"/>
          <p:cNvSpPr txBox="true"/>
          <p:nvPr/>
        </p:nvSpPr>
        <p:spPr>
          <a:xfrm rot="0">
            <a:off x="1066800" y="5818044"/>
            <a:ext cx="4013405"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Introduction</a:t>
            </a:r>
          </a:p>
        </p:txBody>
      </p:sp>
      <p:sp>
        <p:nvSpPr>
          <p:cNvPr name="TextBox 10" id="10"/>
          <p:cNvSpPr txBox="true"/>
          <p:nvPr/>
        </p:nvSpPr>
        <p:spPr>
          <a:xfrm rot="0">
            <a:off x="5816625" y="5818044"/>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4</a:t>
            </a:r>
          </a:p>
        </p:txBody>
      </p:sp>
      <p:sp>
        <p:nvSpPr>
          <p:cNvPr name="TextBox 11" id="11"/>
          <p:cNvSpPr txBox="true"/>
          <p:nvPr/>
        </p:nvSpPr>
        <p:spPr>
          <a:xfrm rot="0">
            <a:off x="1066800" y="6853485"/>
            <a:ext cx="4013405"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Challenges</a:t>
            </a:r>
          </a:p>
        </p:txBody>
      </p:sp>
      <p:sp>
        <p:nvSpPr>
          <p:cNvPr name="TextBox 12" id="12"/>
          <p:cNvSpPr txBox="true"/>
          <p:nvPr/>
        </p:nvSpPr>
        <p:spPr>
          <a:xfrm rot="0">
            <a:off x="5816625" y="685348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5</a:t>
            </a:r>
          </a:p>
        </p:txBody>
      </p:sp>
      <p:sp>
        <p:nvSpPr>
          <p:cNvPr name="TextBox 13" id="13"/>
          <p:cNvSpPr txBox="true"/>
          <p:nvPr/>
        </p:nvSpPr>
        <p:spPr>
          <a:xfrm rot="0">
            <a:off x="8553449" y="4782603"/>
            <a:ext cx="4013405"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CNN’s Problems</a:t>
            </a:r>
          </a:p>
        </p:txBody>
      </p:sp>
      <p:sp>
        <p:nvSpPr>
          <p:cNvPr name="TextBox 14" id="14"/>
          <p:cNvSpPr txBox="true"/>
          <p:nvPr/>
        </p:nvSpPr>
        <p:spPr>
          <a:xfrm rot="0">
            <a:off x="13303274" y="4782603"/>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8</a:t>
            </a:r>
          </a:p>
        </p:txBody>
      </p:sp>
      <p:sp>
        <p:nvSpPr>
          <p:cNvPr name="TextBox 15" id="15"/>
          <p:cNvSpPr txBox="true"/>
          <p:nvPr/>
        </p:nvSpPr>
        <p:spPr>
          <a:xfrm rot="0">
            <a:off x="8553449" y="5818044"/>
            <a:ext cx="4013405"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EfficientNet</a:t>
            </a:r>
          </a:p>
        </p:txBody>
      </p:sp>
      <p:sp>
        <p:nvSpPr>
          <p:cNvPr name="TextBox 16" id="16"/>
          <p:cNvSpPr txBox="true"/>
          <p:nvPr/>
        </p:nvSpPr>
        <p:spPr>
          <a:xfrm rot="0">
            <a:off x="13303274" y="5818044"/>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10</a:t>
            </a:r>
          </a:p>
        </p:txBody>
      </p:sp>
      <p:sp>
        <p:nvSpPr>
          <p:cNvPr name="TextBox 17" id="17"/>
          <p:cNvSpPr txBox="true"/>
          <p:nvPr/>
        </p:nvSpPr>
        <p:spPr>
          <a:xfrm rot="0">
            <a:off x="8553449" y="7309659"/>
            <a:ext cx="4013405"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Conclusions</a:t>
            </a:r>
          </a:p>
        </p:txBody>
      </p:sp>
      <p:sp>
        <p:nvSpPr>
          <p:cNvPr name="TextBox 18" id="18"/>
          <p:cNvSpPr txBox="true"/>
          <p:nvPr/>
        </p:nvSpPr>
        <p:spPr>
          <a:xfrm rot="0">
            <a:off x="13303274" y="7309659"/>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15</a:t>
            </a:r>
          </a:p>
        </p:txBody>
      </p:sp>
      <p:sp>
        <p:nvSpPr>
          <p:cNvPr name="TextBox 19" id="19"/>
          <p:cNvSpPr txBox="true"/>
          <p:nvPr/>
        </p:nvSpPr>
        <p:spPr>
          <a:xfrm rot="0">
            <a:off x="1066800" y="7887900"/>
            <a:ext cx="4013405"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Dataset</a:t>
            </a:r>
          </a:p>
        </p:txBody>
      </p:sp>
      <p:sp>
        <p:nvSpPr>
          <p:cNvPr name="TextBox 20" id="20"/>
          <p:cNvSpPr txBox="true"/>
          <p:nvPr/>
        </p:nvSpPr>
        <p:spPr>
          <a:xfrm rot="0">
            <a:off x="5816625" y="7887900"/>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3145413"/>
            <a:ext cx="5246370" cy="5246370"/>
            <a:chOff x="0" y="0"/>
            <a:chExt cx="12700000" cy="12700000"/>
          </a:xfrm>
        </p:grpSpPr>
        <p:sp>
          <p:nvSpPr>
            <p:cNvPr name="Freeform 7" id="7"/>
            <p:cNvSpPr/>
            <p:nvPr/>
          </p:nvSpPr>
          <p:spPr>
            <a:xfrm flipH="false" flipV="false" rot="0">
              <a:off x="125908" y="857250"/>
              <a:ext cx="12396490" cy="11506076"/>
            </a:xfrm>
            <a:custGeom>
              <a:avLst/>
              <a:gdLst/>
              <a:ahLst/>
              <a:cxnLst/>
              <a:rect r="r" b="b" t="t" l="l"/>
              <a:pathLst>
                <a:path h="11506076" w="12396490">
                  <a:moveTo>
                    <a:pt x="10015042" y="938530"/>
                  </a:moveTo>
                  <a:cubicBezTo>
                    <a:pt x="8825052" y="189230"/>
                    <a:pt x="8506282" y="154940"/>
                    <a:pt x="7108012" y="0"/>
                  </a:cubicBezTo>
                  <a:cubicBezTo>
                    <a:pt x="3902532" y="38100"/>
                    <a:pt x="1304112" y="1889760"/>
                    <a:pt x="298272" y="4933950"/>
                  </a:cubicBezTo>
                  <a:cubicBezTo>
                    <a:pt x="-45898" y="5975350"/>
                    <a:pt x="-137338" y="7139940"/>
                    <a:pt x="266522" y="8159750"/>
                  </a:cubicBezTo>
                  <a:cubicBezTo>
                    <a:pt x="797382" y="9499600"/>
                    <a:pt x="2116912" y="10407650"/>
                    <a:pt x="3511372" y="10773410"/>
                  </a:cubicBezTo>
                  <a:cubicBezTo>
                    <a:pt x="4905832" y="11140440"/>
                    <a:pt x="6441262" y="11644630"/>
                    <a:pt x="7871282" y="11470640"/>
                  </a:cubicBezTo>
                  <a:cubicBezTo>
                    <a:pt x="8986342" y="11334750"/>
                    <a:pt x="10100132" y="10519410"/>
                    <a:pt x="10934522" y="9767570"/>
                  </a:cubicBezTo>
                  <a:cubicBezTo>
                    <a:pt x="11488242" y="9268460"/>
                    <a:pt x="11833682" y="8576310"/>
                    <a:pt x="12064822" y="7867650"/>
                  </a:cubicBezTo>
                  <a:cubicBezTo>
                    <a:pt x="12872542" y="5401310"/>
                    <a:pt x="12210872" y="2322830"/>
                    <a:pt x="10015042" y="938530"/>
                  </a:cubicBezTo>
                  <a:close/>
                </a:path>
              </a:pathLst>
            </a:custGeom>
            <a:blipFill>
              <a:blip r:embed="rId4"/>
              <a:stretch>
                <a:fillRect l="0" t="-3869" r="0" b="-3869"/>
              </a:stretch>
            </a:blipFill>
          </p:spPr>
        </p:sp>
      </p:grpSp>
      <p:grpSp>
        <p:nvGrpSpPr>
          <p:cNvPr name="Group 8" id="8"/>
          <p:cNvGrpSpPr/>
          <p:nvPr/>
        </p:nvGrpSpPr>
        <p:grpSpPr>
          <a:xfrm rot="0">
            <a:off x="11808575" y="3145413"/>
            <a:ext cx="5450725" cy="5246370"/>
            <a:chOff x="30480" y="591820"/>
            <a:chExt cx="12736830" cy="12259310"/>
          </a:xfrm>
        </p:grpSpPr>
        <p:sp>
          <p:nvSpPr>
            <p:cNvPr name="Freeform 9" id="9"/>
            <p:cNvSpPr/>
            <p:nvPr/>
          </p:nvSpPr>
          <p:spPr>
            <a:xfrm flipH="false" flipV="false" rot="0">
              <a:off x="64261" y="240734"/>
              <a:ext cx="12517576" cy="11526913"/>
            </a:xfrm>
            <a:custGeom>
              <a:avLst/>
              <a:gdLst/>
              <a:ahLst/>
              <a:cxnLst/>
              <a:rect r="r" b="b" t="t" l="l"/>
              <a:pathLst>
                <a:path h="11526913" w="12517576">
                  <a:moveTo>
                    <a:pt x="11861039" y="4030276"/>
                  </a:moveTo>
                  <a:cubicBezTo>
                    <a:pt x="10754869" y="1880166"/>
                    <a:pt x="8526019" y="304096"/>
                    <a:pt x="6151119" y="56446"/>
                  </a:cubicBezTo>
                  <a:cubicBezTo>
                    <a:pt x="4213099" y="-240734"/>
                    <a:pt x="2938019" y="672396"/>
                    <a:pt x="1896619" y="1929696"/>
                  </a:cubicBezTo>
                  <a:cubicBezTo>
                    <a:pt x="855219" y="3186996"/>
                    <a:pt x="301499" y="4789736"/>
                    <a:pt x="77979" y="6406446"/>
                  </a:cubicBezTo>
                  <a:cubicBezTo>
                    <a:pt x="-40131" y="7259886"/>
                    <a:pt x="-64261" y="8165396"/>
                    <a:pt x="297689" y="8947716"/>
                  </a:cubicBezTo>
                  <a:cubicBezTo>
                    <a:pt x="756159" y="9939586"/>
                    <a:pt x="1758189" y="10570776"/>
                    <a:pt x="2777999" y="10963206"/>
                  </a:cubicBezTo>
                  <a:cubicBezTo>
                    <a:pt x="5521199" y="12018576"/>
                    <a:pt x="8889240" y="11609636"/>
                    <a:pt x="11024109" y="9587796"/>
                  </a:cubicBezTo>
                  <a:cubicBezTo>
                    <a:pt x="11692129" y="8955336"/>
                    <a:pt x="12239499" y="8162856"/>
                    <a:pt x="12435079" y="7263696"/>
                  </a:cubicBezTo>
                  <a:cubicBezTo>
                    <a:pt x="12672569" y="6172766"/>
                    <a:pt x="12371579" y="5023416"/>
                    <a:pt x="11861039" y="4030276"/>
                  </a:cubicBezTo>
                  <a:close/>
                </a:path>
              </a:pathLst>
            </a:custGeom>
            <a:blipFill>
              <a:blip r:embed="rId5"/>
              <a:stretch>
                <a:fillRect l="0" t="-4297" r="0" b="-4297"/>
              </a:stretch>
            </a:blipFill>
          </p:spPr>
        </p:sp>
      </p:grpSp>
      <p:sp>
        <p:nvSpPr>
          <p:cNvPr name="Freeform 10" id="10"/>
          <p:cNvSpPr/>
          <p:nvPr/>
        </p:nvSpPr>
        <p:spPr>
          <a:xfrm flipH="false" flipV="false" rot="0">
            <a:off x="14010740" y="422780"/>
            <a:ext cx="3651885" cy="4114800"/>
          </a:xfrm>
          <a:custGeom>
            <a:avLst/>
            <a:gdLst/>
            <a:ahLst/>
            <a:cxnLst/>
            <a:rect r="r" b="b" t="t" l="l"/>
            <a:pathLst>
              <a:path h="4114800" w="3651885">
                <a:moveTo>
                  <a:pt x="0" y="0"/>
                </a:moveTo>
                <a:lnTo>
                  <a:pt x="3651885" y="0"/>
                </a:lnTo>
                <a:lnTo>
                  <a:pt x="365188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6425172" y="3145413"/>
            <a:ext cx="5233302" cy="5246370"/>
            <a:chOff x="0" y="0"/>
            <a:chExt cx="5594350" cy="5608320"/>
          </a:xfrm>
        </p:grpSpPr>
        <p:sp>
          <p:nvSpPr>
            <p:cNvPr name="Freeform 12" id="12"/>
            <p:cNvSpPr/>
            <p:nvPr/>
          </p:nvSpPr>
          <p:spPr>
            <a:xfrm flipH="false" flipV="false" rot="0">
              <a:off x="491" y="474"/>
              <a:ext cx="5594679" cy="5608083"/>
            </a:xfrm>
            <a:custGeom>
              <a:avLst/>
              <a:gdLst/>
              <a:ahLst/>
              <a:cxnLst/>
              <a:rect r="r" b="b" t="t" l="l"/>
              <a:pathLst>
                <a:path h="5608083" w="5594679">
                  <a:moveTo>
                    <a:pt x="3495819" y="150656"/>
                  </a:moveTo>
                  <a:cubicBezTo>
                    <a:pt x="4688349" y="317026"/>
                    <a:pt x="6184409" y="779306"/>
                    <a:pt x="5355099" y="2868456"/>
                  </a:cubicBezTo>
                  <a:cubicBezTo>
                    <a:pt x="4525789" y="4957606"/>
                    <a:pt x="2808749" y="5328446"/>
                    <a:pt x="1979439" y="5557046"/>
                  </a:cubicBezTo>
                  <a:cubicBezTo>
                    <a:pt x="1150129" y="5785646"/>
                    <a:pt x="176039" y="5242086"/>
                    <a:pt x="520209" y="4011456"/>
                  </a:cubicBezTo>
                  <a:cubicBezTo>
                    <a:pt x="821199" y="2934496"/>
                    <a:pt x="-80501" y="1580676"/>
                    <a:pt x="5859" y="694216"/>
                  </a:cubicBezTo>
                  <a:cubicBezTo>
                    <a:pt x="92219" y="-192244"/>
                    <a:pt x="2064529" y="-50004"/>
                    <a:pt x="3495819" y="150656"/>
                  </a:cubicBezTo>
                  <a:close/>
                </a:path>
              </a:pathLst>
            </a:custGeom>
            <a:blipFill>
              <a:blip r:embed="rId8"/>
              <a:stretch>
                <a:fillRect l="0" t="-59" r="0" b="-59"/>
              </a:stretch>
            </a:blipFill>
          </p:spPr>
        </p:sp>
      </p:grpSp>
      <p:sp>
        <p:nvSpPr>
          <p:cNvPr name="Freeform 13" id="13"/>
          <p:cNvSpPr/>
          <p:nvPr/>
        </p:nvSpPr>
        <p:spPr>
          <a:xfrm flipH="false" flipV="false" rot="0">
            <a:off x="6275070" y="2815430"/>
            <a:ext cx="2602752" cy="943498"/>
          </a:xfrm>
          <a:custGeom>
            <a:avLst/>
            <a:gdLst/>
            <a:ahLst/>
            <a:cxnLst/>
            <a:rect r="r" b="b" t="t" l="l"/>
            <a:pathLst>
              <a:path h="943498" w="2602752">
                <a:moveTo>
                  <a:pt x="0" y="0"/>
                </a:moveTo>
                <a:lnTo>
                  <a:pt x="2602752" y="0"/>
                </a:lnTo>
                <a:lnTo>
                  <a:pt x="2602752" y="943497"/>
                </a:lnTo>
                <a:lnTo>
                  <a:pt x="0" y="9434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true" flipV="false" rot="-81944">
            <a:off x="-1233646" y="6021029"/>
            <a:ext cx="3405032" cy="2370754"/>
          </a:xfrm>
          <a:custGeom>
            <a:avLst/>
            <a:gdLst/>
            <a:ahLst/>
            <a:cxnLst/>
            <a:rect r="r" b="b" t="t" l="l"/>
            <a:pathLst>
              <a:path h="2370754" w="3405032">
                <a:moveTo>
                  <a:pt x="3405033" y="0"/>
                </a:moveTo>
                <a:lnTo>
                  <a:pt x="0" y="0"/>
                </a:lnTo>
                <a:lnTo>
                  <a:pt x="0" y="2370754"/>
                </a:lnTo>
                <a:lnTo>
                  <a:pt x="3405033" y="2370754"/>
                </a:lnTo>
                <a:lnTo>
                  <a:pt x="3405033"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5" id="15"/>
          <p:cNvSpPr txBox="true"/>
          <p:nvPr/>
        </p:nvSpPr>
        <p:spPr>
          <a:xfrm rot="0">
            <a:off x="1971524" y="8766810"/>
            <a:ext cx="3360723" cy="366395"/>
          </a:xfrm>
          <a:prstGeom prst="rect">
            <a:avLst/>
          </a:prstGeom>
        </p:spPr>
        <p:txBody>
          <a:bodyPr anchor="t" rtlCol="false" tIns="0" lIns="0" bIns="0" rIns="0">
            <a:spAutoFit/>
          </a:bodyPr>
          <a:lstStyle/>
          <a:p>
            <a:pPr algn="ctr">
              <a:lnSpc>
                <a:spcPts val="2799"/>
              </a:lnSpc>
            </a:pPr>
            <a:r>
              <a:rPr lang="en-US" sz="2799" b="true">
                <a:solidFill>
                  <a:srgbClr val="62463C"/>
                </a:solidFill>
                <a:latin typeface="DM Sans Bold"/>
                <a:ea typeface="DM Sans Bold"/>
                <a:cs typeface="DM Sans Bold"/>
                <a:sym typeface="DM Sans Bold"/>
              </a:rPr>
              <a:t>Pham Quoc Hung</a:t>
            </a:r>
          </a:p>
        </p:txBody>
      </p:sp>
      <p:sp>
        <p:nvSpPr>
          <p:cNvPr name="TextBox 16" id="16"/>
          <p:cNvSpPr txBox="true"/>
          <p:nvPr/>
        </p:nvSpPr>
        <p:spPr>
          <a:xfrm rot="0">
            <a:off x="1066800" y="1066800"/>
            <a:ext cx="5124822" cy="596265"/>
          </a:xfrm>
          <a:prstGeom prst="rect">
            <a:avLst/>
          </a:prstGeom>
        </p:spPr>
        <p:txBody>
          <a:bodyPr anchor="t" rtlCol="false" tIns="0" lIns="0" bIns="0" rIns="0">
            <a:spAutoFit/>
          </a:bodyPr>
          <a:lstStyle/>
          <a:p>
            <a:pPr algn="l">
              <a:lnSpc>
                <a:spcPts val="4620"/>
              </a:lnSpc>
            </a:pPr>
            <a:r>
              <a:rPr lang="en-US" sz="4200" b="true">
                <a:solidFill>
                  <a:srgbClr val="62463C"/>
                </a:solidFill>
                <a:latin typeface="DM Sans Bold"/>
                <a:ea typeface="DM Sans Bold"/>
                <a:cs typeface="DM Sans Bold"/>
                <a:sym typeface="DM Sans Bold"/>
              </a:rPr>
              <a:t>Group Members</a:t>
            </a:r>
          </a:p>
        </p:txBody>
      </p:sp>
      <p:sp>
        <p:nvSpPr>
          <p:cNvPr name="TextBox 17" id="17"/>
          <p:cNvSpPr txBox="true"/>
          <p:nvPr/>
        </p:nvSpPr>
        <p:spPr>
          <a:xfrm rot="0">
            <a:off x="7361461" y="8766810"/>
            <a:ext cx="3360723" cy="366395"/>
          </a:xfrm>
          <a:prstGeom prst="rect">
            <a:avLst/>
          </a:prstGeom>
        </p:spPr>
        <p:txBody>
          <a:bodyPr anchor="t" rtlCol="false" tIns="0" lIns="0" bIns="0" rIns="0">
            <a:spAutoFit/>
          </a:bodyPr>
          <a:lstStyle/>
          <a:p>
            <a:pPr algn="ctr">
              <a:lnSpc>
                <a:spcPts val="2799"/>
              </a:lnSpc>
            </a:pPr>
            <a:r>
              <a:rPr lang="en-US" sz="2799" b="true">
                <a:solidFill>
                  <a:srgbClr val="62463C"/>
                </a:solidFill>
                <a:latin typeface="DM Sans Bold"/>
                <a:ea typeface="DM Sans Bold"/>
                <a:cs typeface="DM Sans Bold"/>
                <a:sym typeface="DM Sans Bold"/>
              </a:rPr>
              <a:t>Dinh Bui Khanh Huy</a:t>
            </a:r>
          </a:p>
        </p:txBody>
      </p:sp>
      <p:sp>
        <p:nvSpPr>
          <p:cNvPr name="TextBox 18" id="18"/>
          <p:cNvSpPr txBox="true"/>
          <p:nvPr/>
        </p:nvSpPr>
        <p:spPr>
          <a:xfrm rot="0">
            <a:off x="12853576" y="8766810"/>
            <a:ext cx="3360723" cy="366395"/>
          </a:xfrm>
          <a:prstGeom prst="rect">
            <a:avLst/>
          </a:prstGeom>
        </p:spPr>
        <p:txBody>
          <a:bodyPr anchor="t" rtlCol="false" tIns="0" lIns="0" bIns="0" rIns="0">
            <a:spAutoFit/>
          </a:bodyPr>
          <a:lstStyle/>
          <a:p>
            <a:pPr algn="ctr">
              <a:lnSpc>
                <a:spcPts val="2799"/>
              </a:lnSpc>
            </a:pPr>
            <a:r>
              <a:rPr lang="en-US" sz="2799" b="true">
                <a:solidFill>
                  <a:srgbClr val="62463C"/>
                </a:solidFill>
                <a:latin typeface="DM Sans Bold"/>
                <a:ea typeface="DM Sans Bold"/>
                <a:cs typeface="DM Sans Bold"/>
                <a:sym typeface="DM Sans Bold"/>
              </a:rPr>
              <a:t>Nguyen Dong Quan</a:t>
            </a:r>
          </a:p>
        </p:txBody>
      </p:sp>
      <p:sp>
        <p:nvSpPr>
          <p:cNvPr name="TextBox 19" id="19"/>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054610" y="3089539"/>
            <a:ext cx="4472596" cy="5454386"/>
          </a:xfrm>
          <a:custGeom>
            <a:avLst/>
            <a:gdLst/>
            <a:ahLst/>
            <a:cxnLst/>
            <a:rect r="r" b="b" t="t" l="l"/>
            <a:pathLst>
              <a:path h="5454386" w="4472596">
                <a:moveTo>
                  <a:pt x="0" y="0"/>
                </a:moveTo>
                <a:lnTo>
                  <a:pt x="4472596" y="0"/>
                </a:lnTo>
                <a:lnTo>
                  <a:pt x="4472596" y="5454386"/>
                </a:lnTo>
                <a:lnTo>
                  <a:pt x="0" y="54543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33231">
            <a:off x="14824478" y="1887472"/>
            <a:ext cx="1805036" cy="1814106"/>
          </a:xfrm>
          <a:custGeom>
            <a:avLst/>
            <a:gdLst/>
            <a:ahLst/>
            <a:cxnLst/>
            <a:rect r="r" b="b" t="t" l="l"/>
            <a:pathLst>
              <a:path h="1814106" w="1805036">
                <a:moveTo>
                  <a:pt x="0" y="0"/>
                </a:moveTo>
                <a:lnTo>
                  <a:pt x="1805036" y="0"/>
                </a:lnTo>
                <a:lnTo>
                  <a:pt x="1805036" y="1814107"/>
                </a:lnTo>
                <a:lnTo>
                  <a:pt x="0" y="18141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66800" y="1085850"/>
            <a:ext cx="7309051"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Introduction</a:t>
            </a:r>
          </a:p>
        </p:txBody>
      </p:sp>
      <p:sp>
        <p:nvSpPr>
          <p:cNvPr name="TextBox 9" id="9"/>
          <p:cNvSpPr txBox="true"/>
          <p:nvPr/>
        </p:nvSpPr>
        <p:spPr>
          <a:xfrm rot="0">
            <a:off x="1066800" y="4239973"/>
            <a:ext cx="6549485" cy="57340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Why gesture recognition?</a:t>
            </a:r>
          </a:p>
        </p:txBody>
      </p:sp>
      <p:sp>
        <p:nvSpPr>
          <p:cNvPr name="TextBox 10" id="10"/>
          <p:cNvSpPr txBox="true"/>
          <p:nvPr/>
        </p:nvSpPr>
        <p:spPr>
          <a:xfrm rot="0">
            <a:off x="1066800" y="6148070"/>
            <a:ext cx="6549485" cy="1471930"/>
          </a:xfrm>
          <a:prstGeom prst="rect">
            <a:avLst/>
          </a:prstGeom>
        </p:spPr>
        <p:txBody>
          <a:bodyPr anchor="t" rtlCol="false" tIns="0" lIns="0" bIns="0" rIns="0">
            <a:spAutoFit/>
          </a:bodyPr>
          <a:lstStyle/>
          <a:p>
            <a:pPr algn="l">
              <a:lnSpc>
                <a:spcPts val="3919"/>
              </a:lnSpc>
            </a:pPr>
            <a:r>
              <a:rPr lang="en-US" sz="2799">
                <a:solidFill>
                  <a:srgbClr val="62463C"/>
                </a:solidFill>
                <a:latin typeface="DM Sans"/>
                <a:ea typeface="DM Sans"/>
                <a:cs typeface="DM Sans"/>
                <a:sym typeface="DM Sans"/>
              </a:rPr>
              <a:t>Control devices naturally - no touch, no gloves, just your hand. Used in AR/VR, smart homes, and sign-language tools.</a:t>
            </a:r>
          </a:p>
        </p:txBody>
      </p:sp>
      <p:sp>
        <p:nvSpPr>
          <p:cNvPr name="TextBox 11" id="11"/>
          <p:cNvSpPr txBox="true"/>
          <p:nvPr/>
        </p:nvSpPr>
        <p:spPr>
          <a:xfrm rot="0">
            <a:off x="8124125" y="4239973"/>
            <a:ext cx="6549485" cy="57340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What we built</a:t>
            </a:r>
          </a:p>
        </p:txBody>
      </p:sp>
      <p:sp>
        <p:nvSpPr>
          <p:cNvPr name="TextBox 12" id="12"/>
          <p:cNvSpPr txBox="true"/>
          <p:nvPr/>
        </p:nvSpPr>
        <p:spPr>
          <a:xfrm rot="0">
            <a:off x="8124125" y="6148070"/>
            <a:ext cx="6549485" cy="1471930"/>
          </a:xfrm>
          <a:prstGeom prst="rect">
            <a:avLst/>
          </a:prstGeom>
        </p:spPr>
        <p:txBody>
          <a:bodyPr anchor="t" rtlCol="false" tIns="0" lIns="0" bIns="0" rIns="0">
            <a:spAutoFit/>
          </a:bodyPr>
          <a:lstStyle/>
          <a:p>
            <a:pPr algn="l">
              <a:lnSpc>
                <a:spcPts val="3919"/>
              </a:lnSpc>
            </a:pPr>
            <a:r>
              <a:rPr lang="en-US" sz="2799">
                <a:solidFill>
                  <a:srgbClr val="62463C"/>
                </a:solidFill>
                <a:latin typeface="DM Sans"/>
                <a:ea typeface="DM Sans"/>
                <a:cs typeface="DM Sans"/>
                <a:sym typeface="DM Sans"/>
              </a:rPr>
              <a:t>Fine-tuned EfficientNet-B0 on 17,000 images across 34 gesture classes. Runs live on webcam. 79% accuracy.</a:t>
            </a:r>
          </a:p>
        </p:txBody>
      </p:sp>
      <p:sp>
        <p:nvSpPr>
          <p:cNvPr name="TextBox 13" id="13"/>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729950" y="4529909"/>
            <a:ext cx="4482660" cy="3137862"/>
          </a:xfrm>
          <a:custGeom>
            <a:avLst/>
            <a:gdLst/>
            <a:ahLst/>
            <a:cxnLst/>
            <a:rect r="r" b="b" t="t" l="l"/>
            <a:pathLst>
              <a:path h="3137862" w="4482660">
                <a:moveTo>
                  <a:pt x="0" y="0"/>
                </a:moveTo>
                <a:lnTo>
                  <a:pt x="4482659" y="0"/>
                </a:lnTo>
                <a:lnTo>
                  <a:pt x="4482659" y="3137862"/>
                </a:lnTo>
                <a:lnTo>
                  <a:pt x="0" y="3137862"/>
                </a:lnTo>
                <a:lnTo>
                  <a:pt x="0" y="0"/>
                </a:lnTo>
                <a:close/>
              </a:path>
            </a:pathLst>
          </a:custGeom>
          <a:blipFill>
            <a:blip r:embed="rId4"/>
            <a:stretch>
              <a:fillRect l="0" t="0" r="0" b="0"/>
            </a:stretch>
          </a:blipFill>
        </p:spPr>
      </p:sp>
      <p:sp>
        <p:nvSpPr>
          <p:cNvPr name="Freeform 7" id="7"/>
          <p:cNvSpPr/>
          <p:nvPr/>
        </p:nvSpPr>
        <p:spPr>
          <a:xfrm flipH="false" flipV="false" rot="0">
            <a:off x="8871987" y="4976263"/>
            <a:ext cx="1535124" cy="2245154"/>
          </a:xfrm>
          <a:custGeom>
            <a:avLst/>
            <a:gdLst/>
            <a:ahLst/>
            <a:cxnLst/>
            <a:rect r="r" b="b" t="t" l="l"/>
            <a:pathLst>
              <a:path h="2245154" w="1535124">
                <a:moveTo>
                  <a:pt x="0" y="0"/>
                </a:moveTo>
                <a:lnTo>
                  <a:pt x="1535124" y="0"/>
                </a:lnTo>
                <a:lnTo>
                  <a:pt x="1535124" y="2245154"/>
                </a:lnTo>
                <a:lnTo>
                  <a:pt x="0" y="22451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681521" y="4976263"/>
            <a:ext cx="1567526" cy="2245154"/>
          </a:xfrm>
          <a:custGeom>
            <a:avLst/>
            <a:gdLst/>
            <a:ahLst/>
            <a:cxnLst/>
            <a:rect r="r" b="b" t="t" l="l"/>
            <a:pathLst>
              <a:path h="2245154" w="1567526">
                <a:moveTo>
                  <a:pt x="0" y="0"/>
                </a:moveTo>
                <a:lnTo>
                  <a:pt x="1567526" y="0"/>
                </a:lnTo>
                <a:lnTo>
                  <a:pt x="1567526" y="2245154"/>
                </a:lnTo>
                <a:lnTo>
                  <a:pt x="0" y="22451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4637437" y="4976263"/>
            <a:ext cx="1417253" cy="2245154"/>
          </a:xfrm>
          <a:custGeom>
            <a:avLst/>
            <a:gdLst/>
            <a:ahLst/>
            <a:cxnLst/>
            <a:rect r="r" b="b" t="t" l="l"/>
            <a:pathLst>
              <a:path h="2245154" w="1417253">
                <a:moveTo>
                  <a:pt x="0" y="0"/>
                </a:moveTo>
                <a:lnTo>
                  <a:pt x="1417253" y="0"/>
                </a:lnTo>
                <a:lnTo>
                  <a:pt x="1417253" y="2245154"/>
                </a:lnTo>
                <a:lnTo>
                  <a:pt x="0" y="224515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066800" y="1085850"/>
            <a:ext cx="13080593"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The Challenge of Gesture Recognition</a:t>
            </a:r>
          </a:p>
        </p:txBody>
      </p:sp>
      <p:sp>
        <p:nvSpPr>
          <p:cNvPr name="TextBox 11" id="11"/>
          <p:cNvSpPr txBox="true"/>
          <p:nvPr/>
        </p:nvSpPr>
        <p:spPr>
          <a:xfrm rot="0">
            <a:off x="1066800" y="3104593"/>
            <a:ext cx="16192500" cy="116395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Machines can't naturally understand human hand gestures from a plain camera</a:t>
            </a:r>
          </a:p>
        </p:txBody>
      </p:sp>
      <p:sp>
        <p:nvSpPr>
          <p:cNvPr name="TextBox 12" id="12"/>
          <p:cNvSpPr txBox="true"/>
          <p:nvPr/>
        </p:nvSpPr>
        <p:spPr>
          <a:xfrm rot="0">
            <a:off x="192879" y="9582271"/>
            <a:ext cx="6020838" cy="419100"/>
          </a:xfrm>
          <a:prstGeom prst="rect">
            <a:avLst/>
          </a:prstGeom>
        </p:spPr>
        <p:txBody>
          <a:bodyPr anchor="t" rtlCol="false" tIns="0" lIns="0" bIns="0" rIns="0">
            <a:spAutoFit/>
          </a:bodyPr>
          <a:lstStyle/>
          <a:p>
            <a:pPr algn="ctr">
              <a:lnSpc>
                <a:spcPts val="3359"/>
              </a:lnSpc>
            </a:pPr>
            <a:r>
              <a:rPr lang="en-US" sz="2799" b="true">
                <a:solidFill>
                  <a:srgbClr val="62463C"/>
                </a:solidFill>
                <a:latin typeface="DM Sans Bold"/>
                <a:ea typeface="DM Sans Bold"/>
                <a:cs typeface="DM Sans Bold"/>
                <a:sym typeface="DM Sans Bold"/>
              </a:rPr>
              <a:t>34 gestures. 1 camera. Real-time.</a:t>
            </a:r>
          </a:p>
        </p:txBody>
      </p:sp>
      <p:sp>
        <p:nvSpPr>
          <p:cNvPr name="TextBox 13" id="13"/>
          <p:cNvSpPr txBox="true"/>
          <p:nvPr/>
        </p:nvSpPr>
        <p:spPr>
          <a:xfrm rot="0">
            <a:off x="8588954" y="7924946"/>
            <a:ext cx="7920352" cy="838200"/>
          </a:xfrm>
          <a:prstGeom prst="rect">
            <a:avLst/>
          </a:prstGeom>
        </p:spPr>
        <p:txBody>
          <a:bodyPr anchor="t" rtlCol="false" tIns="0" lIns="0" bIns="0" rIns="0">
            <a:spAutoFit/>
          </a:bodyPr>
          <a:lstStyle/>
          <a:p>
            <a:pPr algn="ctr">
              <a:lnSpc>
                <a:spcPts val="3359"/>
              </a:lnSpc>
            </a:pPr>
            <a:r>
              <a:rPr lang="en-US" sz="2799" b="true">
                <a:solidFill>
                  <a:srgbClr val="62463C"/>
                </a:solidFill>
                <a:latin typeface="DM Sans Bold"/>
                <a:ea typeface="DM Sans Bold"/>
                <a:cs typeface="DM Sans Bold"/>
                <a:sym typeface="DM Sans Bold"/>
              </a:rPr>
              <a:t>Similar gestures (three vs three2 vs three3) are easy for humans, hard for models</a:t>
            </a:r>
          </a:p>
        </p:txBody>
      </p:sp>
      <p:sp>
        <p:nvSpPr>
          <p:cNvPr name="TextBox 14" id="14"/>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5</a:t>
            </a:r>
          </a:p>
        </p:txBody>
      </p:sp>
      <p:sp>
        <p:nvSpPr>
          <p:cNvPr name="TextBox 15" id="15"/>
          <p:cNvSpPr txBox="true"/>
          <p:nvPr/>
        </p:nvSpPr>
        <p:spPr>
          <a:xfrm rot="0">
            <a:off x="2050419" y="7924946"/>
            <a:ext cx="5841722" cy="1257300"/>
          </a:xfrm>
          <a:prstGeom prst="rect">
            <a:avLst/>
          </a:prstGeom>
        </p:spPr>
        <p:txBody>
          <a:bodyPr anchor="t" rtlCol="false" tIns="0" lIns="0" bIns="0" rIns="0">
            <a:spAutoFit/>
          </a:bodyPr>
          <a:lstStyle/>
          <a:p>
            <a:pPr algn="ctr">
              <a:lnSpc>
                <a:spcPts val="3359"/>
              </a:lnSpc>
            </a:pPr>
            <a:r>
              <a:rPr lang="en-US" sz="2799" b="true">
                <a:solidFill>
                  <a:srgbClr val="62463C"/>
                </a:solidFill>
                <a:latin typeface="DM Sans Bold"/>
                <a:ea typeface="DM Sans Bold"/>
                <a:cs typeface="DM Sans Bold"/>
                <a:sym typeface="DM Sans Bold"/>
              </a:rPr>
              <a:t>Same gesture looks different across people, lighting, and angles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9341562" cy="8066095"/>
            <a:chOff x="0" y="0"/>
            <a:chExt cx="2460329" cy="2124404"/>
          </a:xfrm>
        </p:grpSpPr>
        <p:sp>
          <p:nvSpPr>
            <p:cNvPr name="Freeform 4" id="4"/>
            <p:cNvSpPr/>
            <p:nvPr/>
          </p:nvSpPr>
          <p:spPr>
            <a:xfrm flipH="false" flipV="false" rot="0">
              <a:off x="0" y="0"/>
              <a:ext cx="2460329" cy="2124404"/>
            </a:xfrm>
            <a:custGeom>
              <a:avLst/>
              <a:gdLst/>
              <a:ahLst/>
              <a:cxnLst/>
              <a:rect r="r" b="b" t="t" l="l"/>
              <a:pathLst>
                <a:path h="2124404" w="2460329">
                  <a:moveTo>
                    <a:pt x="0" y="0"/>
                  </a:moveTo>
                  <a:lnTo>
                    <a:pt x="2460329" y="0"/>
                  </a:lnTo>
                  <a:lnTo>
                    <a:pt x="2460329" y="2124404"/>
                  </a:lnTo>
                  <a:lnTo>
                    <a:pt x="0" y="2124404"/>
                  </a:lnTo>
                  <a:close/>
                </a:path>
              </a:pathLst>
            </a:custGeom>
            <a:solidFill>
              <a:srgbClr val="FFFBF8"/>
            </a:solidFill>
          </p:spPr>
        </p:sp>
        <p:sp>
          <p:nvSpPr>
            <p:cNvPr name="TextBox 5" id="5"/>
            <p:cNvSpPr txBox="true"/>
            <p:nvPr/>
          </p:nvSpPr>
          <p:spPr>
            <a:xfrm>
              <a:off x="0" y="-38100"/>
              <a:ext cx="2460329" cy="2162504"/>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144000" y="2480180"/>
            <a:ext cx="9341562" cy="8066095"/>
            <a:chOff x="0" y="0"/>
            <a:chExt cx="2460329" cy="2124404"/>
          </a:xfrm>
        </p:grpSpPr>
        <p:sp>
          <p:nvSpPr>
            <p:cNvPr name="Freeform 7" id="7"/>
            <p:cNvSpPr/>
            <p:nvPr/>
          </p:nvSpPr>
          <p:spPr>
            <a:xfrm flipH="false" flipV="false" rot="0">
              <a:off x="0" y="0"/>
              <a:ext cx="2460329" cy="2124404"/>
            </a:xfrm>
            <a:custGeom>
              <a:avLst/>
              <a:gdLst/>
              <a:ahLst/>
              <a:cxnLst/>
              <a:rect r="r" b="b" t="t" l="l"/>
              <a:pathLst>
                <a:path h="2124404" w="2460329">
                  <a:moveTo>
                    <a:pt x="0" y="0"/>
                  </a:moveTo>
                  <a:lnTo>
                    <a:pt x="2460329" y="0"/>
                  </a:lnTo>
                  <a:lnTo>
                    <a:pt x="2460329" y="2124404"/>
                  </a:lnTo>
                  <a:lnTo>
                    <a:pt x="0" y="2124404"/>
                  </a:lnTo>
                  <a:close/>
                </a:path>
              </a:pathLst>
            </a:custGeom>
            <a:solidFill>
              <a:srgbClr val="FFFFFF"/>
            </a:solidFill>
          </p:spPr>
        </p:sp>
        <p:sp>
          <p:nvSpPr>
            <p:cNvPr name="TextBox 8" id="8"/>
            <p:cNvSpPr txBox="true"/>
            <p:nvPr/>
          </p:nvSpPr>
          <p:spPr>
            <a:xfrm>
              <a:off x="0" y="-38100"/>
              <a:ext cx="2460329"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294494" y="4774853"/>
            <a:ext cx="6377140" cy="4662165"/>
          </a:xfrm>
          <a:custGeom>
            <a:avLst/>
            <a:gdLst/>
            <a:ahLst/>
            <a:cxnLst/>
            <a:rect r="r" b="b" t="t" l="l"/>
            <a:pathLst>
              <a:path h="4662165" w="6377140">
                <a:moveTo>
                  <a:pt x="0" y="0"/>
                </a:moveTo>
                <a:lnTo>
                  <a:pt x="6377140" y="0"/>
                </a:lnTo>
                <a:lnTo>
                  <a:pt x="6377140" y="4662165"/>
                </a:lnTo>
                <a:lnTo>
                  <a:pt x="0" y="4662165"/>
                </a:lnTo>
                <a:lnTo>
                  <a:pt x="0" y="0"/>
                </a:lnTo>
                <a:close/>
              </a:path>
            </a:pathLst>
          </a:custGeom>
          <a:blipFill>
            <a:blip r:embed="rId4"/>
            <a:stretch>
              <a:fillRect l="0" t="0" r="-166373" b="0"/>
            </a:stretch>
          </a:blipFill>
        </p:spPr>
      </p:sp>
      <p:sp>
        <p:nvSpPr>
          <p:cNvPr name="TextBox 10" id="10"/>
          <p:cNvSpPr txBox="true"/>
          <p:nvPr/>
        </p:nvSpPr>
        <p:spPr>
          <a:xfrm rot="0">
            <a:off x="1066800" y="1085850"/>
            <a:ext cx="11685428"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Dataset Overview</a:t>
            </a:r>
          </a:p>
        </p:txBody>
      </p:sp>
      <p:sp>
        <p:nvSpPr>
          <p:cNvPr name="TextBox 11" id="11"/>
          <p:cNvSpPr txBox="true"/>
          <p:nvPr/>
        </p:nvSpPr>
        <p:spPr>
          <a:xfrm rot="0">
            <a:off x="1274804" y="3698953"/>
            <a:ext cx="6396830" cy="573405"/>
          </a:xfrm>
          <a:prstGeom prst="rect">
            <a:avLst/>
          </a:prstGeom>
        </p:spPr>
        <p:txBody>
          <a:bodyPr anchor="t" rtlCol="false" tIns="0" lIns="0" bIns="0" rIns="0">
            <a:spAutoFit/>
          </a:bodyPr>
          <a:lstStyle/>
          <a:p>
            <a:pPr algn="ctr">
              <a:lnSpc>
                <a:spcPts val="4680"/>
              </a:lnSpc>
            </a:pPr>
            <a:r>
              <a:rPr lang="en-US" sz="3600" b="true">
                <a:solidFill>
                  <a:srgbClr val="62463C"/>
                </a:solidFill>
                <a:latin typeface="DM Sans Bold"/>
                <a:ea typeface="DM Sans Bold"/>
                <a:cs typeface="DM Sans Bold"/>
                <a:sym typeface="DM Sans Bold"/>
              </a:rPr>
              <a:t>HaGRIDv2 Dataset</a:t>
            </a:r>
          </a:p>
        </p:txBody>
      </p:sp>
      <p:sp>
        <p:nvSpPr>
          <p:cNvPr name="TextBox 12" id="12"/>
          <p:cNvSpPr txBox="true"/>
          <p:nvPr/>
        </p:nvSpPr>
        <p:spPr>
          <a:xfrm rot="0">
            <a:off x="10182942" y="5440123"/>
            <a:ext cx="6549485" cy="34531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62463C"/>
                </a:solidFill>
                <a:latin typeface="DM Sans"/>
                <a:ea typeface="DM Sans"/>
                <a:cs typeface="DM Sans"/>
                <a:sym typeface="DM Sans"/>
              </a:rPr>
              <a:t>34 gesture classes</a:t>
            </a:r>
          </a:p>
          <a:p>
            <a:pPr algn="l" marL="604519" indent="-302260" lvl="1">
              <a:lnSpc>
                <a:spcPts val="3919"/>
              </a:lnSpc>
              <a:buFont typeface="Arial"/>
              <a:buChar char="•"/>
            </a:pPr>
            <a:r>
              <a:rPr lang="en-US" sz="2799">
                <a:solidFill>
                  <a:srgbClr val="62463C"/>
                </a:solidFill>
                <a:latin typeface="DM Sans"/>
                <a:ea typeface="DM Sans"/>
                <a:cs typeface="DM Sans"/>
                <a:sym typeface="DM Sans"/>
              </a:rPr>
              <a:t>500 images per cl</a:t>
            </a:r>
            <a:r>
              <a:rPr lang="en-US" sz="2799">
                <a:solidFill>
                  <a:srgbClr val="62463C"/>
                </a:solidFill>
                <a:latin typeface="DM Sans"/>
                <a:ea typeface="DM Sans"/>
                <a:cs typeface="DM Sans"/>
                <a:sym typeface="DM Sans"/>
              </a:rPr>
              <a:t>ass - perfectly balanced</a:t>
            </a:r>
          </a:p>
          <a:p>
            <a:pPr algn="l" marL="604519" indent="-302260" lvl="1">
              <a:lnSpc>
                <a:spcPts val="3919"/>
              </a:lnSpc>
              <a:buFont typeface="Arial"/>
              <a:buChar char="•"/>
            </a:pPr>
            <a:r>
              <a:rPr lang="en-US" sz="2799">
                <a:solidFill>
                  <a:srgbClr val="62463C"/>
                </a:solidFill>
                <a:latin typeface="DM Sans"/>
                <a:ea typeface="DM Sans"/>
                <a:cs typeface="DM Sans"/>
                <a:sym typeface="DM Sans"/>
              </a:rPr>
              <a:t>17,000 total images → 13,600 train / 1,700 val / 1,700 test</a:t>
            </a:r>
          </a:p>
          <a:p>
            <a:pPr algn="l" marL="604519" indent="-302260" lvl="1">
              <a:lnSpc>
                <a:spcPts val="3919"/>
              </a:lnSpc>
              <a:buFont typeface="Arial"/>
              <a:buChar char="•"/>
            </a:pPr>
            <a:r>
              <a:rPr lang="en-US" sz="2799">
                <a:solidFill>
                  <a:srgbClr val="62463C"/>
                </a:solidFill>
                <a:latin typeface="DM Sans"/>
                <a:ea typeface="DM Sans"/>
                <a:cs typeface="DM Sans"/>
                <a:sym typeface="DM Sans"/>
              </a:rPr>
              <a:t>128×128</a:t>
            </a:r>
            <a:r>
              <a:rPr lang="en-US" sz="2799">
                <a:solidFill>
                  <a:srgbClr val="62463C"/>
                </a:solidFill>
                <a:latin typeface="DM Sans"/>
                <a:ea typeface="DM Sans"/>
                <a:cs typeface="DM Sans"/>
                <a:sym typeface="DM Sans"/>
              </a:rPr>
              <a:t> stored → upscaled to 224×224 for model input</a:t>
            </a:r>
          </a:p>
        </p:txBody>
      </p:sp>
      <p:sp>
        <p:nvSpPr>
          <p:cNvPr name="TextBox 13" id="13"/>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6</a:t>
            </a:r>
          </a:p>
        </p:txBody>
      </p:sp>
      <p:sp>
        <p:nvSpPr>
          <p:cNvPr name="TextBox 14" id="14"/>
          <p:cNvSpPr txBox="true"/>
          <p:nvPr/>
        </p:nvSpPr>
        <p:spPr>
          <a:xfrm rot="0">
            <a:off x="360028" y="9653094"/>
            <a:ext cx="13227676" cy="481330"/>
          </a:xfrm>
          <a:prstGeom prst="rect">
            <a:avLst/>
          </a:prstGeom>
        </p:spPr>
        <p:txBody>
          <a:bodyPr anchor="t" rtlCol="false" tIns="0" lIns="0" bIns="0" rIns="0">
            <a:spAutoFit/>
          </a:bodyPr>
          <a:lstStyle/>
          <a:p>
            <a:pPr algn="l">
              <a:lnSpc>
                <a:spcPts val="3919"/>
              </a:lnSpc>
            </a:pPr>
            <a:r>
              <a:rPr lang="en-US" sz="2799" b="true">
                <a:solidFill>
                  <a:srgbClr val="62463C"/>
                </a:solidFill>
                <a:latin typeface="DM Sans Bold"/>
                <a:ea typeface="DM Sans Bold"/>
                <a:cs typeface="DM Sans Bold"/>
                <a:sym typeface="DM Sans Bold"/>
              </a:rPr>
              <a:t>Source : HuggingFace - GestureDetectionConnoisseurs/hagrid_subset</a:t>
            </a:r>
          </a:p>
        </p:txBody>
      </p:sp>
      <p:sp>
        <p:nvSpPr>
          <p:cNvPr name="TextBox 15" id="15"/>
          <p:cNvSpPr txBox="true"/>
          <p:nvPr/>
        </p:nvSpPr>
        <p:spPr>
          <a:xfrm rot="0">
            <a:off x="10116898" y="3676093"/>
            <a:ext cx="6681574" cy="573405"/>
          </a:xfrm>
          <a:prstGeom prst="rect">
            <a:avLst/>
          </a:prstGeom>
        </p:spPr>
        <p:txBody>
          <a:bodyPr anchor="t" rtlCol="false" tIns="0" lIns="0" bIns="0" rIns="0">
            <a:spAutoFit/>
          </a:bodyPr>
          <a:lstStyle/>
          <a:p>
            <a:pPr algn="ctr">
              <a:lnSpc>
                <a:spcPts val="4680"/>
              </a:lnSpc>
            </a:pPr>
            <a:r>
              <a:rPr lang="en-US" sz="3600" b="true">
                <a:solidFill>
                  <a:srgbClr val="62463C"/>
                </a:solidFill>
                <a:latin typeface="DM Sans Bold"/>
                <a:ea typeface="DM Sans Bold"/>
                <a:cs typeface="DM Sans Bold"/>
                <a:sym typeface="DM Sans Bold"/>
              </a:rPr>
              <a:t>Big stats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9341562" cy="8066095"/>
            <a:chOff x="0" y="0"/>
            <a:chExt cx="2460329" cy="2124404"/>
          </a:xfrm>
        </p:grpSpPr>
        <p:sp>
          <p:nvSpPr>
            <p:cNvPr name="Freeform 4" id="4"/>
            <p:cNvSpPr/>
            <p:nvPr/>
          </p:nvSpPr>
          <p:spPr>
            <a:xfrm flipH="false" flipV="false" rot="0">
              <a:off x="0" y="0"/>
              <a:ext cx="2460329" cy="2124404"/>
            </a:xfrm>
            <a:custGeom>
              <a:avLst/>
              <a:gdLst/>
              <a:ahLst/>
              <a:cxnLst/>
              <a:rect r="r" b="b" t="t" l="l"/>
              <a:pathLst>
                <a:path h="2124404" w="2460329">
                  <a:moveTo>
                    <a:pt x="0" y="0"/>
                  </a:moveTo>
                  <a:lnTo>
                    <a:pt x="2460329" y="0"/>
                  </a:lnTo>
                  <a:lnTo>
                    <a:pt x="2460329" y="2124404"/>
                  </a:lnTo>
                  <a:lnTo>
                    <a:pt x="0" y="2124404"/>
                  </a:lnTo>
                  <a:close/>
                </a:path>
              </a:pathLst>
            </a:custGeom>
            <a:solidFill>
              <a:srgbClr val="FFFBF8"/>
            </a:solidFill>
          </p:spPr>
        </p:sp>
        <p:sp>
          <p:nvSpPr>
            <p:cNvPr name="TextBox 5" id="5"/>
            <p:cNvSpPr txBox="true"/>
            <p:nvPr/>
          </p:nvSpPr>
          <p:spPr>
            <a:xfrm>
              <a:off x="0" y="-38100"/>
              <a:ext cx="2460329" cy="2162504"/>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9144000" y="2480180"/>
            <a:ext cx="9341562" cy="8066095"/>
            <a:chOff x="0" y="0"/>
            <a:chExt cx="2460329" cy="2124404"/>
          </a:xfrm>
        </p:grpSpPr>
        <p:sp>
          <p:nvSpPr>
            <p:cNvPr name="Freeform 7" id="7"/>
            <p:cNvSpPr/>
            <p:nvPr/>
          </p:nvSpPr>
          <p:spPr>
            <a:xfrm flipH="false" flipV="false" rot="0">
              <a:off x="0" y="0"/>
              <a:ext cx="2460329" cy="2124404"/>
            </a:xfrm>
            <a:custGeom>
              <a:avLst/>
              <a:gdLst/>
              <a:ahLst/>
              <a:cxnLst/>
              <a:rect r="r" b="b" t="t" l="l"/>
              <a:pathLst>
                <a:path h="2124404" w="2460329">
                  <a:moveTo>
                    <a:pt x="0" y="0"/>
                  </a:moveTo>
                  <a:lnTo>
                    <a:pt x="2460329" y="0"/>
                  </a:lnTo>
                  <a:lnTo>
                    <a:pt x="2460329" y="2124404"/>
                  </a:lnTo>
                  <a:lnTo>
                    <a:pt x="0" y="2124404"/>
                  </a:lnTo>
                  <a:close/>
                </a:path>
              </a:pathLst>
            </a:custGeom>
            <a:solidFill>
              <a:srgbClr val="FFFFFF"/>
            </a:solidFill>
          </p:spPr>
        </p:sp>
        <p:sp>
          <p:nvSpPr>
            <p:cNvPr name="TextBox 8" id="8"/>
            <p:cNvSpPr txBox="true"/>
            <p:nvPr/>
          </p:nvSpPr>
          <p:spPr>
            <a:xfrm>
              <a:off x="0" y="-38100"/>
              <a:ext cx="2460329" cy="2162504"/>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9" id="9"/>
          <p:cNvGraphicFramePr>
            <a:graphicFrameLocks noGrp="true"/>
          </p:cNvGraphicFramePr>
          <p:nvPr/>
        </p:nvGraphicFramePr>
        <p:xfrm>
          <a:off x="2259311" y="3287178"/>
          <a:ext cx="13825971" cy="5133975"/>
        </p:xfrm>
        <a:graphic>
          <a:graphicData uri="http://schemas.openxmlformats.org/drawingml/2006/table">
            <a:tbl>
              <a:tblPr/>
              <a:tblGrid>
                <a:gridCol w="6092227"/>
                <a:gridCol w="7733744"/>
              </a:tblGrid>
              <a:tr h="1026795">
                <a:tc>
                  <a:txBody>
                    <a:bodyPr anchor="t" rtlCol="false"/>
                    <a:lstStyle/>
                    <a:p>
                      <a:pPr algn="ctr">
                        <a:lnSpc>
                          <a:spcPts val="3919"/>
                        </a:lnSpc>
                        <a:defRPr/>
                      </a:pPr>
                      <a:r>
                        <a:rPr lang="en-US" sz="2799" b="true">
                          <a:solidFill>
                            <a:srgbClr val="000000"/>
                          </a:solidFill>
                          <a:latin typeface="DM Sans Bold"/>
                          <a:ea typeface="DM Sans Bold"/>
                          <a:cs typeface="DM Sans Bold"/>
                          <a:sym typeface="DM Sans Bold"/>
                        </a:rPr>
                        <a:t>Finding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b="true">
                          <a:solidFill>
                            <a:srgbClr val="000000"/>
                          </a:solidFill>
                          <a:latin typeface="DM Sans Bold"/>
                          <a:ea typeface="DM Sans Bold"/>
                          <a:cs typeface="DM Sans Bold"/>
                          <a:sym typeface="DM Sans Bold"/>
                        </a:rPr>
                        <a:t>Details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3919"/>
                        </a:lnSpc>
                        <a:defRPr/>
                      </a:pPr>
                      <a:r>
                        <a:rPr lang="en-US" sz="2799">
                          <a:solidFill>
                            <a:srgbClr val="000000"/>
                          </a:solidFill>
                          <a:latin typeface="DM Sans"/>
                          <a:ea typeface="DM Sans"/>
                          <a:cs typeface="DM Sans"/>
                          <a:sym typeface="DM Sans"/>
                        </a:rPr>
                        <a:t>Perfectly balanced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DM Sans"/>
                          <a:ea typeface="DM Sans"/>
                          <a:cs typeface="DM Sans"/>
                          <a:sym typeface="DM Sans"/>
                        </a:rPr>
                        <a:t>No class weighting needed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3919"/>
                        </a:lnSpc>
                        <a:defRPr/>
                      </a:pPr>
                      <a:r>
                        <a:rPr lang="en-US" sz="2799">
                          <a:solidFill>
                            <a:srgbClr val="000000"/>
                          </a:solidFill>
                          <a:latin typeface="DM Sans"/>
                          <a:ea typeface="DM Sans"/>
                          <a:cs typeface="DM Sans"/>
                          <a:sym typeface="DM Sans"/>
                        </a:rPr>
                        <a:t>Leading hand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DM Sans"/>
                          <a:ea typeface="DM Sans"/>
                          <a:cs typeface="DM Sans"/>
                          <a:sym typeface="DM Sans"/>
                        </a:rPr>
                        <a:t>Both left &amp; right hand captured per gesture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3919"/>
                        </a:lnSpc>
                        <a:defRPr/>
                      </a:pPr>
                      <a:r>
                        <a:rPr lang="en-US" sz="2799">
                          <a:solidFill>
                            <a:srgbClr val="000000"/>
                          </a:solidFill>
                          <a:latin typeface="DM Sans"/>
                          <a:ea typeface="DM Sans"/>
                          <a:cs typeface="DM Sans"/>
                          <a:sym typeface="DM Sans"/>
                        </a:rPr>
                        <a:t>Bounding boxes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DM Sans"/>
                          <a:ea typeface="DM Sans"/>
                          <a:cs typeface="DM Sans"/>
                          <a:sym typeface="DM Sans"/>
                        </a:rPr>
                        <a:t>Each image annotated with hand region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795">
                <a:tc>
                  <a:txBody>
                    <a:bodyPr anchor="t" rtlCol="false"/>
                    <a:lstStyle/>
                    <a:p>
                      <a:pPr algn="ctr">
                        <a:lnSpc>
                          <a:spcPts val="3919"/>
                        </a:lnSpc>
                        <a:defRPr/>
                      </a:pPr>
                      <a:r>
                        <a:rPr lang="en-US" sz="2799">
                          <a:solidFill>
                            <a:srgbClr val="000000"/>
                          </a:solidFill>
                          <a:latin typeface="DM Sans"/>
                          <a:ea typeface="DM Sans"/>
                          <a:cs typeface="DM Sans"/>
                          <a:sym typeface="DM Sans"/>
                        </a:rPr>
                        <a:t>Diverse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DM Sans"/>
                          <a:ea typeface="DM Sans"/>
                          <a:cs typeface="DM Sans"/>
                          <a:sym typeface="DM Sans"/>
                        </a:rPr>
                        <a:t>Varied backgrounds, lighting, skin tones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1066800" y="1085850"/>
            <a:ext cx="11685428"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Dataset Insights (EDA)</a:t>
            </a:r>
          </a:p>
        </p:txBody>
      </p:sp>
      <p:sp>
        <p:nvSpPr>
          <p:cNvPr name="TextBox 11" id="11"/>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7</a:t>
            </a:r>
          </a:p>
        </p:txBody>
      </p:sp>
      <p:sp>
        <p:nvSpPr>
          <p:cNvPr name="TextBox 12" id="12"/>
          <p:cNvSpPr txBox="true"/>
          <p:nvPr/>
        </p:nvSpPr>
        <p:spPr>
          <a:xfrm rot="0">
            <a:off x="304977" y="9015730"/>
            <a:ext cx="13209074" cy="976630"/>
          </a:xfrm>
          <a:prstGeom prst="rect">
            <a:avLst/>
          </a:prstGeom>
        </p:spPr>
        <p:txBody>
          <a:bodyPr anchor="t" rtlCol="false" tIns="0" lIns="0" bIns="0" rIns="0">
            <a:spAutoFit/>
          </a:bodyPr>
          <a:lstStyle/>
          <a:p>
            <a:pPr algn="l">
              <a:lnSpc>
                <a:spcPts val="3919"/>
              </a:lnSpc>
            </a:pPr>
            <a:r>
              <a:rPr lang="en-US" sz="2799" b="true">
                <a:solidFill>
                  <a:srgbClr val="62463C"/>
                </a:solidFill>
                <a:latin typeface="DM Sans Bold"/>
                <a:ea typeface="DM Sans Bold"/>
                <a:cs typeface="DM Sans Bold"/>
                <a:sym typeface="DM Sans Bold"/>
              </a:rPr>
              <a:t>"no_gesture" included as its own class - important for real-world use where hands may appear but no gesture is being made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06740" y="3061794"/>
            <a:ext cx="4829419" cy="878076"/>
          </a:xfrm>
          <a:custGeom>
            <a:avLst/>
            <a:gdLst/>
            <a:ahLst/>
            <a:cxnLst/>
            <a:rect r="r" b="b" t="t" l="l"/>
            <a:pathLst>
              <a:path h="878076" w="4829419">
                <a:moveTo>
                  <a:pt x="0" y="0"/>
                </a:moveTo>
                <a:lnTo>
                  <a:pt x="4829419" y="0"/>
                </a:lnTo>
                <a:lnTo>
                  <a:pt x="4829419" y="878077"/>
                </a:lnTo>
                <a:lnTo>
                  <a:pt x="0" y="8780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431734" y="3061794"/>
            <a:ext cx="4829419" cy="878076"/>
          </a:xfrm>
          <a:custGeom>
            <a:avLst/>
            <a:gdLst/>
            <a:ahLst/>
            <a:cxnLst/>
            <a:rect r="r" b="b" t="t" l="l"/>
            <a:pathLst>
              <a:path h="878076" w="4829419">
                <a:moveTo>
                  <a:pt x="0" y="0"/>
                </a:moveTo>
                <a:lnTo>
                  <a:pt x="4829419" y="0"/>
                </a:lnTo>
                <a:lnTo>
                  <a:pt x="4829419" y="878077"/>
                </a:lnTo>
                <a:lnTo>
                  <a:pt x="0" y="8780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2331" y="4118774"/>
            <a:ext cx="6767561" cy="4788908"/>
          </a:xfrm>
          <a:custGeom>
            <a:avLst/>
            <a:gdLst/>
            <a:ahLst/>
            <a:cxnLst/>
            <a:rect r="r" b="b" t="t" l="l"/>
            <a:pathLst>
              <a:path h="4788908" w="6767561">
                <a:moveTo>
                  <a:pt x="0" y="0"/>
                </a:moveTo>
                <a:lnTo>
                  <a:pt x="6767561" y="0"/>
                </a:lnTo>
                <a:lnTo>
                  <a:pt x="6767561" y="4788908"/>
                </a:lnTo>
                <a:lnTo>
                  <a:pt x="0" y="4788908"/>
                </a:lnTo>
                <a:lnTo>
                  <a:pt x="0" y="0"/>
                </a:lnTo>
                <a:close/>
              </a:path>
            </a:pathLst>
          </a:custGeom>
          <a:blipFill>
            <a:blip r:embed="rId6"/>
            <a:stretch>
              <a:fillRect l="0" t="-45210" r="-121160" b="-63148"/>
            </a:stretch>
          </a:blipFill>
        </p:spPr>
      </p:sp>
      <p:sp>
        <p:nvSpPr>
          <p:cNvPr name="Freeform 9" id="9"/>
          <p:cNvSpPr/>
          <p:nvPr/>
        </p:nvSpPr>
        <p:spPr>
          <a:xfrm flipH="false" flipV="false" rot="0">
            <a:off x="7534237" y="4001842"/>
            <a:ext cx="8624413" cy="5022773"/>
          </a:xfrm>
          <a:custGeom>
            <a:avLst/>
            <a:gdLst/>
            <a:ahLst/>
            <a:cxnLst/>
            <a:rect r="r" b="b" t="t" l="l"/>
            <a:pathLst>
              <a:path h="5022773" w="8624413">
                <a:moveTo>
                  <a:pt x="0" y="0"/>
                </a:moveTo>
                <a:lnTo>
                  <a:pt x="8624413" y="0"/>
                </a:lnTo>
                <a:lnTo>
                  <a:pt x="8624413" y="5022772"/>
                </a:lnTo>
                <a:lnTo>
                  <a:pt x="0" y="5022772"/>
                </a:lnTo>
                <a:lnTo>
                  <a:pt x="0" y="0"/>
                </a:lnTo>
                <a:close/>
              </a:path>
            </a:pathLst>
          </a:custGeom>
          <a:blipFill>
            <a:blip r:embed="rId6"/>
            <a:stretch>
              <a:fillRect l="-96590" t="-53683" r="-3666" b="-75552"/>
            </a:stretch>
          </a:blipFill>
        </p:spPr>
      </p:sp>
      <p:sp>
        <p:nvSpPr>
          <p:cNvPr name="TextBox 10" id="10"/>
          <p:cNvSpPr txBox="true"/>
          <p:nvPr/>
        </p:nvSpPr>
        <p:spPr>
          <a:xfrm rot="0">
            <a:off x="1066800" y="1085850"/>
            <a:ext cx="12001665"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The Problem with Traditional CNNs</a:t>
            </a:r>
          </a:p>
        </p:txBody>
      </p:sp>
      <p:sp>
        <p:nvSpPr>
          <p:cNvPr name="TextBox 11" id="11"/>
          <p:cNvSpPr txBox="true"/>
          <p:nvPr/>
        </p:nvSpPr>
        <p:spPr>
          <a:xfrm rot="0">
            <a:off x="714903" y="3199843"/>
            <a:ext cx="5013092" cy="573405"/>
          </a:xfrm>
          <a:prstGeom prst="rect">
            <a:avLst/>
          </a:prstGeom>
        </p:spPr>
        <p:txBody>
          <a:bodyPr anchor="t" rtlCol="false" tIns="0" lIns="0" bIns="0" rIns="0">
            <a:spAutoFit/>
          </a:bodyPr>
          <a:lstStyle/>
          <a:p>
            <a:pPr algn="ctr">
              <a:lnSpc>
                <a:spcPts val="4680"/>
              </a:lnSpc>
            </a:pPr>
            <a:r>
              <a:rPr lang="en-US" sz="3600" b="true">
                <a:solidFill>
                  <a:srgbClr val="62463C"/>
                </a:solidFill>
                <a:latin typeface="DM Sans Bold"/>
                <a:ea typeface="DM Sans Bold"/>
                <a:cs typeface="DM Sans Bold"/>
                <a:sym typeface="DM Sans Bold"/>
              </a:rPr>
              <a:t>Deeper</a:t>
            </a:r>
          </a:p>
        </p:txBody>
      </p:sp>
      <p:sp>
        <p:nvSpPr>
          <p:cNvPr name="TextBox 12" id="12"/>
          <p:cNvSpPr txBox="true"/>
          <p:nvPr/>
        </p:nvSpPr>
        <p:spPr>
          <a:xfrm rot="0">
            <a:off x="714903" y="9051290"/>
            <a:ext cx="5013092" cy="481330"/>
          </a:xfrm>
          <a:prstGeom prst="rect">
            <a:avLst/>
          </a:prstGeom>
        </p:spPr>
        <p:txBody>
          <a:bodyPr anchor="t" rtlCol="false" tIns="0" lIns="0" bIns="0" rIns="0">
            <a:spAutoFit/>
          </a:bodyPr>
          <a:lstStyle/>
          <a:p>
            <a:pPr algn="ctr">
              <a:lnSpc>
                <a:spcPts val="3919"/>
              </a:lnSpc>
            </a:pPr>
            <a:r>
              <a:rPr lang="en-US" sz="2799" b="true">
                <a:solidFill>
                  <a:srgbClr val="62463C"/>
                </a:solidFill>
                <a:latin typeface="DM Sans Bold"/>
                <a:ea typeface="DM Sans Bold"/>
                <a:cs typeface="DM Sans Bold"/>
                <a:sym typeface="DM Sans Bold"/>
              </a:rPr>
              <a:t>Vanishing gradients</a:t>
            </a:r>
          </a:p>
        </p:txBody>
      </p:sp>
      <p:sp>
        <p:nvSpPr>
          <p:cNvPr name="TextBox 13" id="13"/>
          <p:cNvSpPr txBox="true"/>
          <p:nvPr/>
        </p:nvSpPr>
        <p:spPr>
          <a:xfrm rot="0">
            <a:off x="9339897" y="3199843"/>
            <a:ext cx="5013092" cy="573405"/>
          </a:xfrm>
          <a:prstGeom prst="rect">
            <a:avLst/>
          </a:prstGeom>
        </p:spPr>
        <p:txBody>
          <a:bodyPr anchor="t" rtlCol="false" tIns="0" lIns="0" bIns="0" rIns="0">
            <a:spAutoFit/>
          </a:bodyPr>
          <a:lstStyle/>
          <a:p>
            <a:pPr algn="ctr">
              <a:lnSpc>
                <a:spcPts val="4680"/>
              </a:lnSpc>
            </a:pPr>
            <a:r>
              <a:rPr lang="en-US" sz="3600" b="true">
                <a:solidFill>
                  <a:srgbClr val="62463C"/>
                </a:solidFill>
                <a:latin typeface="DM Sans Bold"/>
                <a:ea typeface="DM Sans Bold"/>
                <a:cs typeface="DM Sans Bold"/>
                <a:sym typeface="DM Sans Bold"/>
              </a:rPr>
              <a:t>Wider</a:t>
            </a:r>
          </a:p>
        </p:txBody>
      </p:sp>
      <p:sp>
        <p:nvSpPr>
          <p:cNvPr name="TextBox 14" id="14"/>
          <p:cNvSpPr txBox="true"/>
          <p:nvPr/>
        </p:nvSpPr>
        <p:spPr>
          <a:xfrm rot="0">
            <a:off x="9339897" y="9051290"/>
            <a:ext cx="5013092" cy="481330"/>
          </a:xfrm>
          <a:prstGeom prst="rect">
            <a:avLst/>
          </a:prstGeom>
        </p:spPr>
        <p:txBody>
          <a:bodyPr anchor="t" rtlCol="false" tIns="0" lIns="0" bIns="0" rIns="0">
            <a:spAutoFit/>
          </a:bodyPr>
          <a:lstStyle/>
          <a:p>
            <a:pPr algn="ctr">
              <a:lnSpc>
                <a:spcPts val="3919"/>
              </a:lnSpc>
            </a:pPr>
            <a:r>
              <a:rPr lang="en-US" sz="2799" b="true">
                <a:solidFill>
                  <a:srgbClr val="62463C"/>
                </a:solidFill>
                <a:latin typeface="DM Sans Bold"/>
                <a:ea typeface="DM Sans Bold"/>
                <a:cs typeface="DM Sans Bold"/>
                <a:sym typeface="DM Sans Bold"/>
              </a:rPr>
              <a:t>Diminishing returns</a:t>
            </a:r>
          </a:p>
        </p:txBody>
      </p:sp>
      <p:sp>
        <p:nvSpPr>
          <p:cNvPr name="TextBox 15" id="15"/>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8</a:t>
            </a:r>
          </a:p>
        </p:txBody>
      </p:sp>
      <p:sp>
        <p:nvSpPr>
          <p:cNvPr name="TextBox 16" id="16"/>
          <p:cNvSpPr txBox="true"/>
          <p:nvPr/>
        </p:nvSpPr>
        <p:spPr>
          <a:xfrm rot="0">
            <a:off x="1028700" y="1906775"/>
            <a:ext cx="6631484" cy="57340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How Do We Scale a CNN?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729291" y="3082554"/>
            <a:ext cx="4829419" cy="878076"/>
          </a:xfrm>
          <a:custGeom>
            <a:avLst/>
            <a:gdLst/>
            <a:ahLst/>
            <a:cxnLst/>
            <a:rect r="r" b="b" t="t" l="l"/>
            <a:pathLst>
              <a:path h="878076" w="4829419">
                <a:moveTo>
                  <a:pt x="0" y="0"/>
                </a:moveTo>
                <a:lnTo>
                  <a:pt x="4829418" y="0"/>
                </a:lnTo>
                <a:lnTo>
                  <a:pt x="4829418" y="878076"/>
                </a:lnTo>
                <a:lnTo>
                  <a:pt x="0" y="8780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720625" y="5025284"/>
            <a:ext cx="12846750" cy="2695246"/>
          </a:xfrm>
          <a:custGeom>
            <a:avLst/>
            <a:gdLst/>
            <a:ahLst/>
            <a:cxnLst/>
            <a:rect r="r" b="b" t="t" l="l"/>
            <a:pathLst>
              <a:path h="2695246" w="12846750">
                <a:moveTo>
                  <a:pt x="0" y="0"/>
                </a:moveTo>
                <a:lnTo>
                  <a:pt x="12846750" y="0"/>
                </a:lnTo>
                <a:lnTo>
                  <a:pt x="12846750" y="2695246"/>
                </a:lnTo>
                <a:lnTo>
                  <a:pt x="0" y="2695246"/>
                </a:lnTo>
                <a:lnTo>
                  <a:pt x="0" y="0"/>
                </a:lnTo>
                <a:close/>
              </a:path>
            </a:pathLst>
          </a:custGeom>
          <a:blipFill>
            <a:blip r:embed="rId6"/>
            <a:stretch>
              <a:fillRect l="0" t="0" r="0" b="0"/>
            </a:stretch>
          </a:blipFill>
        </p:spPr>
      </p:sp>
      <p:sp>
        <p:nvSpPr>
          <p:cNvPr name="TextBox 8" id="8"/>
          <p:cNvSpPr txBox="true"/>
          <p:nvPr/>
        </p:nvSpPr>
        <p:spPr>
          <a:xfrm rot="0">
            <a:off x="1066800" y="1085850"/>
            <a:ext cx="12001665"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The Problem with Traditional CNNs</a:t>
            </a:r>
          </a:p>
        </p:txBody>
      </p:sp>
      <p:sp>
        <p:nvSpPr>
          <p:cNvPr name="TextBox 9" id="9"/>
          <p:cNvSpPr txBox="true"/>
          <p:nvPr/>
        </p:nvSpPr>
        <p:spPr>
          <a:xfrm rot="0">
            <a:off x="6637454" y="3220602"/>
            <a:ext cx="5013092" cy="573405"/>
          </a:xfrm>
          <a:prstGeom prst="rect">
            <a:avLst/>
          </a:prstGeom>
        </p:spPr>
        <p:txBody>
          <a:bodyPr anchor="t" rtlCol="false" tIns="0" lIns="0" bIns="0" rIns="0">
            <a:spAutoFit/>
          </a:bodyPr>
          <a:lstStyle/>
          <a:p>
            <a:pPr algn="ctr">
              <a:lnSpc>
                <a:spcPts val="4680"/>
              </a:lnSpc>
            </a:pPr>
            <a:r>
              <a:rPr lang="en-US" sz="3600" b="true">
                <a:solidFill>
                  <a:srgbClr val="62463C"/>
                </a:solidFill>
                <a:latin typeface="DM Sans Bold"/>
                <a:ea typeface="DM Sans Bold"/>
                <a:cs typeface="DM Sans Bold"/>
                <a:sym typeface="DM Sans Bold"/>
              </a:rPr>
              <a:t>Higher resolution</a:t>
            </a:r>
          </a:p>
        </p:txBody>
      </p:sp>
      <p:sp>
        <p:nvSpPr>
          <p:cNvPr name="TextBox 10" id="10"/>
          <p:cNvSpPr txBox="true"/>
          <p:nvPr/>
        </p:nvSpPr>
        <p:spPr>
          <a:xfrm rot="0">
            <a:off x="6665750" y="8728034"/>
            <a:ext cx="5013092" cy="481330"/>
          </a:xfrm>
          <a:prstGeom prst="rect">
            <a:avLst/>
          </a:prstGeom>
        </p:spPr>
        <p:txBody>
          <a:bodyPr anchor="t" rtlCol="false" tIns="0" lIns="0" bIns="0" rIns="0">
            <a:spAutoFit/>
          </a:bodyPr>
          <a:lstStyle/>
          <a:p>
            <a:pPr algn="ctr">
              <a:lnSpc>
                <a:spcPts val="3919"/>
              </a:lnSpc>
            </a:pPr>
            <a:r>
              <a:rPr lang="en-US" sz="2799" b="true">
                <a:solidFill>
                  <a:srgbClr val="62463C"/>
                </a:solidFill>
                <a:latin typeface="DM Sans Bold"/>
                <a:ea typeface="DM Sans Bold"/>
                <a:cs typeface="DM Sans Bold"/>
                <a:sym typeface="DM Sans Bold"/>
              </a:rPr>
              <a:t>Huge compute cost</a:t>
            </a:r>
          </a:p>
        </p:txBody>
      </p:sp>
      <p:sp>
        <p:nvSpPr>
          <p:cNvPr name="TextBox 11" id="11"/>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9</a:t>
            </a:r>
          </a:p>
        </p:txBody>
      </p:sp>
      <p:sp>
        <p:nvSpPr>
          <p:cNvPr name="TextBox 12" id="12"/>
          <p:cNvSpPr txBox="true"/>
          <p:nvPr/>
        </p:nvSpPr>
        <p:spPr>
          <a:xfrm rot="0">
            <a:off x="1028700" y="1906775"/>
            <a:ext cx="6631484" cy="57340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How Do We Scale a CNN?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4066345" y="3086100"/>
            <a:ext cx="5754965" cy="4114800"/>
          </a:xfrm>
          <a:custGeom>
            <a:avLst/>
            <a:gdLst/>
            <a:ahLst/>
            <a:cxnLst/>
            <a:rect r="r" b="b" t="t" l="l"/>
            <a:pathLst>
              <a:path h="4114800" w="5754965">
                <a:moveTo>
                  <a:pt x="0" y="0"/>
                </a:moveTo>
                <a:lnTo>
                  <a:pt x="5754965" y="0"/>
                </a:lnTo>
                <a:lnTo>
                  <a:pt x="57549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5698" y="5424170"/>
            <a:ext cx="5087852" cy="4114800"/>
          </a:xfrm>
          <a:custGeom>
            <a:avLst/>
            <a:gdLst/>
            <a:ahLst/>
            <a:cxnLst/>
            <a:rect r="r" b="b" t="t" l="l"/>
            <a:pathLst>
              <a:path h="4114800" w="5087852">
                <a:moveTo>
                  <a:pt x="0" y="0"/>
                </a:moveTo>
                <a:lnTo>
                  <a:pt x="5087852" y="0"/>
                </a:lnTo>
                <a:lnTo>
                  <a:pt x="508785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66800" y="1085850"/>
            <a:ext cx="11685428"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EfficientNet's Answer</a:t>
            </a:r>
          </a:p>
        </p:txBody>
      </p:sp>
      <p:sp>
        <p:nvSpPr>
          <p:cNvPr name="TextBox 9" id="9"/>
          <p:cNvSpPr txBox="true"/>
          <p:nvPr/>
        </p:nvSpPr>
        <p:spPr>
          <a:xfrm rot="0">
            <a:off x="1028700" y="3199843"/>
            <a:ext cx="11723528" cy="116395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Scale depth + width + resolution together using one coefficient φ - like turning a single dial</a:t>
            </a:r>
          </a:p>
        </p:txBody>
      </p:sp>
      <p:sp>
        <p:nvSpPr>
          <p:cNvPr name="TextBox 10" id="10"/>
          <p:cNvSpPr txBox="true"/>
          <p:nvPr/>
        </p:nvSpPr>
        <p:spPr>
          <a:xfrm rot="0">
            <a:off x="1028700" y="4643405"/>
            <a:ext cx="10549967" cy="1967230"/>
          </a:xfrm>
          <a:prstGeom prst="rect">
            <a:avLst/>
          </a:prstGeom>
        </p:spPr>
        <p:txBody>
          <a:bodyPr anchor="t" rtlCol="false" tIns="0" lIns="0" bIns="0" rIns="0">
            <a:spAutoFit/>
          </a:bodyPr>
          <a:lstStyle/>
          <a:p>
            <a:pPr algn="l">
              <a:lnSpc>
                <a:spcPts val="3919"/>
              </a:lnSpc>
            </a:pPr>
            <a:r>
              <a:rPr lang="en-US" sz="2799">
                <a:solidFill>
                  <a:srgbClr val="62463C"/>
                </a:solidFill>
                <a:latin typeface="DM Sans"/>
                <a:ea typeface="DM Sans"/>
                <a:cs typeface="DM Sans"/>
                <a:sym typeface="DM Sans"/>
              </a:rPr>
              <a:t>EfficientNet is a family of convolutional neural networks (CNNs) introduced by Google AI researchers Mingxing Tan and Quoc V. Le in May 2019 with the paper "EfficientNet: Rethinking Model Scaling for Convolutional Neural Networks."</a:t>
            </a:r>
          </a:p>
        </p:txBody>
      </p:sp>
      <p:sp>
        <p:nvSpPr>
          <p:cNvPr name="TextBox 11" id="11"/>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10</a:t>
            </a:r>
          </a:p>
        </p:txBody>
      </p:sp>
      <p:sp>
        <p:nvSpPr>
          <p:cNvPr name="TextBox 12" id="12"/>
          <p:cNvSpPr txBox="true"/>
          <p:nvPr/>
        </p:nvSpPr>
        <p:spPr>
          <a:xfrm rot="0">
            <a:off x="1028700" y="1906775"/>
            <a:ext cx="8268478" cy="57340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EfficientNet - Compound Scaling</a:t>
            </a:r>
          </a:p>
        </p:txBody>
      </p:sp>
      <p:sp>
        <p:nvSpPr>
          <p:cNvPr name="TextBox 13" id="13"/>
          <p:cNvSpPr txBox="true"/>
          <p:nvPr/>
        </p:nvSpPr>
        <p:spPr>
          <a:xfrm rot="0">
            <a:off x="1028700" y="7048785"/>
            <a:ext cx="10549967" cy="1967230"/>
          </a:xfrm>
          <a:prstGeom prst="rect">
            <a:avLst/>
          </a:prstGeom>
        </p:spPr>
        <p:txBody>
          <a:bodyPr anchor="t" rtlCol="false" tIns="0" lIns="0" bIns="0" rIns="0">
            <a:spAutoFit/>
          </a:bodyPr>
          <a:lstStyle/>
          <a:p>
            <a:pPr algn="l">
              <a:lnSpc>
                <a:spcPts val="3919"/>
              </a:lnSpc>
            </a:pPr>
            <a:r>
              <a:rPr lang="en-US" sz="2799">
                <a:solidFill>
                  <a:srgbClr val="62463C"/>
                </a:solidFill>
                <a:latin typeface="DM Sans"/>
                <a:ea typeface="DM Sans"/>
                <a:cs typeface="DM Sans"/>
                <a:sym typeface="DM Sans"/>
              </a:rPr>
              <a:t>The initial release featured a baseline model, EfficientNet-B0, developed using Neural Architecture Search (NAS) to optimize the balance between accuracy and FLOPs (floating-point operations).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4066345" y="3086100"/>
            <a:ext cx="5754965" cy="4114800"/>
          </a:xfrm>
          <a:custGeom>
            <a:avLst/>
            <a:gdLst/>
            <a:ahLst/>
            <a:cxnLst/>
            <a:rect r="r" b="b" t="t" l="l"/>
            <a:pathLst>
              <a:path h="4114800" w="5754965">
                <a:moveTo>
                  <a:pt x="0" y="0"/>
                </a:moveTo>
                <a:lnTo>
                  <a:pt x="5754965" y="0"/>
                </a:lnTo>
                <a:lnTo>
                  <a:pt x="57549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885698" y="5424170"/>
            <a:ext cx="5087852" cy="4114800"/>
          </a:xfrm>
          <a:custGeom>
            <a:avLst/>
            <a:gdLst/>
            <a:ahLst/>
            <a:cxnLst/>
            <a:rect r="r" b="b" t="t" l="l"/>
            <a:pathLst>
              <a:path h="4114800" w="5087852">
                <a:moveTo>
                  <a:pt x="0" y="0"/>
                </a:moveTo>
                <a:lnTo>
                  <a:pt x="5087852" y="0"/>
                </a:lnTo>
                <a:lnTo>
                  <a:pt x="508785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74482" y="8403590"/>
            <a:ext cx="3667273" cy="1773627"/>
          </a:xfrm>
          <a:custGeom>
            <a:avLst/>
            <a:gdLst/>
            <a:ahLst/>
            <a:cxnLst/>
            <a:rect r="r" b="b" t="t" l="l"/>
            <a:pathLst>
              <a:path h="1773627" w="3667273">
                <a:moveTo>
                  <a:pt x="0" y="0"/>
                </a:moveTo>
                <a:lnTo>
                  <a:pt x="3667273" y="0"/>
                </a:lnTo>
                <a:lnTo>
                  <a:pt x="3667273" y="1773627"/>
                </a:lnTo>
                <a:lnTo>
                  <a:pt x="0" y="17736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066800" y="1085850"/>
            <a:ext cx="11685428"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EfficientNet's Variants</a:t>
            </a:r>
          </a:p>
        </p:txBody>
      </p:sp>
      <p:sp>
        <p:nvSpPr>
          <p:cNvPr name="TextBox 10" id="10"/>
          <p:cNvSpPr txBox="true"/>
          <p:nvPr/>
        </p:nvSpPr>
        <p:spPr>
          <a:xfrm rot="0">
            <a:off x="1066800" y="3028950"/>
            <a:ext cx="10605773" cy="2462530"/>
          </a:xfrm>
          <a:prstGeom prst="rect">
            <a:avLst/>
          </a:prstGeom>
        </p:spPr>
        <p:txBody>
          <a:bodyPr anchor="t" rtlCol="false" tIns="0" lIns="0" bIns="0" rIns="0">
            <a:spAutoFit/>
          </a:bodyPr>
          <a:lstStyle/>
          <a:p>
            <a:pPr algn="l">
              <a:lnSpc>
                <a:spcPts val="3919"/>
              </a:lnSpc>
            </a:pPr>
            <a:r>
              <a:rPr lang="en-US" sz="2799">
                <a:solidFill>
                  <a:srgbClr val="62463C"/>
                </a:solidFill>
                <a:latin typeface="DM Sans"/>
                <a:ea typeface="DM Sans"/>
                <a:cs typeface="DM Sans"/>
                <a:sym typeface="DM Sans"/>
              </a:rPr>
              <a:t>EfficientNet models scale from B0 to B7, starting with B0 as the baseline that balances speed and accuracy. Each version increases depth, width, and image resolution, improving accuracy. However, they also demand more computational power, from the B1 and B2 to the high-performing B6 and B7. </a:t>
            </a:r>
          </a:p>
        </p:txBody>
      </p:sp>
      <p:sp>
        <p:nvSpPr>
          <p:cNvPr name="TextBox 11" id="11"/>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11</a:t>
            </a:r>
          </a:p>
        </p:txBody>
      </p:sp>
      <p:sp>
        <p:nvSpPr>
          <p:cNvPr name="TextBox 12" id="12"/>
          <p:cNvSpPr txBox="true"/>
          <p:nvPr/>
        </p:nvSpPr>
        <p:spPr>
          <a:xfrm rot="0">
            <a:off x="1028700" y="1906775"/>
            <a:ext cx="8268478" cy="57340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EfficientNet - Compound Scaling</a:t>
            </a:r>
          </a:p>
        </p:txBody>
      </p:sp>
      <p:sp>
        <p:nvSpPr>
          <p:cNvPr name="TextBox 13" id="13"/>
          <p:cNvSpPr txBox="true"/>
          <p:nvPr/>
        </p:nvSpPr>
        <p:spPr>
          <a:xfrm rot="0">
            <a:off x="1028700" y="5941060"/>
            <a:ext cx="10605773" cy="2462530"/>
          </a:xfrm>
          <a:prstGeom prst="rect">
            <a:avLst/>
          </a:prstGeom>
        </p:spPr>
        <p:txBody>
          <a:bodyPr anchor="t" rtlCol="false" tIns="0" lIns="0" bIns="0" rIns="0">
            <a:spAutoFit/>
          </a:bodyPr>
          <a:lstStyle/>
          <a:p>
            <a:pPr algn="l">
              <a:lnSpc>
                <a:spcPts val="3919"/>
              </a:lnSpc>
            </a:pPr>
            <a:r>
              <a:rPr lang="en-US" sz="2799">
                <a:solidFill>
                  <a:srgbClr val="62463C"/>
                </a:solidFill>
                <a:latin typeface="DM Sans"/>
                <a:ea typeface="DM Sans"/>
                <a:cs typeface="DM Sans"/>
                <a:sym typeface="DM Sans"/>
              </a:rPr>
              <a:t>While EfficientNet-B3 and EfficientNet-B4 models strike a balance for larger images, B5 is often chosen for complex datasets that require precision. Beyond these models, the latest model, EfficientNet V2, can improve training speed, handle small datasets better, and is optimized for modern hardware.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79927" y="4229752"/>
            <a:ext cx="7999439" cy="3938680"/>
          </a:xfrm>
          <a:custGeom>
            <a:avLst/>
            <a:gdLst/>
            <a:ahLst/>
            <a:cxnLst/>
            <a:rect r="r" b="b" t="t" l="l"/>
            <a:pathLst>
              <a:path h="3938680" w="7999439">
                <a:moveTo>
                  <a:pt x="0" y="0"/>
                </a:moveTo>
                <a:lnTo>
                  <a:pt x="7999440" y="0"/>
                </a:lnTo>
                <a:lnTo>
                  <a:pt x="7999440" y="3938680"/>
                </a:lnTo>
                <a:lnTo>
                  <a:pt x="0" y="3938680"/>
                </a:lnTo>
                <a:lnTo>
                  <a:pt x="0" y="0"/>
                </a:lnTo>
                <a:close/>
              </a:path>
            </a:pathLst>
          </a:custGeom>
          <a:blipFill>
            <a:blip r:embed="rId4"/>
            <a:stretch>
              <a:fillRect l="0" t="0" r="0" b="0"/>
            </a:stretch>
          </a:blipFill>
        </p:spPr>
      </p:sp>
      <p:sp>
        <p:nvSpPr>
          <p:cNvPr name="Freeform 7" id="7"/>
          <p:cNvSpPr/>
          <p:nvPr/>
        </p:nvSpPr>
        <p:spPr>
          <a:xfrm flipH="false" flipV="false" rot="0">
            <a:off x="6002330" y="4157518"/>
            <a:ext cx="11256970" cy="4826462"/>
          </a:xfrm>
          <a:custGeom>
            <a:avLst/>
            <a:gdLst/>
            <a:ahLst/>
            <a:cxnLst/>
            <a:rect r="r" b="b" t="t" l="l"/>
            <a:pathLst>
              <a:path h="4826462" w="11256970">
                <a:moveTo>
                  <a:pt x="0" y="0"/>
                </a:moveTo>
                <a:lnTo>
                  <a:pt x="11256970" y="0"/>
                </a:lnTo>
                <a:lnTo>
                  <a:pt x="11256970" y="4826462"/>
                </a:lnTo>
                <a:lnTo>
                  <a:pt x="0" y="4826462"/>
                </a:lnTo>
                <a:lnTo>
                  <a:pt x="0" y="0"/>
                </a:lnTo>
                <a:close/>
              </a:path>
            </a:pathLst>
          </a:custGeom>
          <a:blipFill>
            <a:blip r:embed="rId5"/>
            <a:stretch>
              <a:fillRect l="0" t="0" r="0" b="0"/>
            </a:stretch>
          </a:blipFill>
        </p:spPr>
      </p:sp>
      <p:sp>
        <p:nvSpPr>
          <p:cNvPr name="TextBox 8" id="8"/>
          <p:cNvSpPr txBox="true"/>
          <p:nvPr/>
        </p:nvSpPr>
        <p:spPr>
          <a:xfrm rot="0">
            <a:off x="1066800" y="1085850"/>
            <a:ext cx="11685428"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EfficientNet's Magic</a:t>
            </a:r>
          </a:p>
        </p:txBody>
      </p:sp>
      <p:sp>
        <p:nvSpPr>
          <p:cNvPr name="TextBox 9" id="9"/>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12</a:t>
            </a:r>
          </a:p>
        </p:txBody>
      </p:sp>
      <p:sp>
        <p:nvSpPr>
          <p:cNvPr name="TextBox 10" id="10"/>
          <p:cNvSpPr txBox="true"/>
          <p:nvPr/>
        </p:nvSpPr>
        <p:spPr>
          <a:xfrm rot="0">
            <a:off x="1028700" y="1906775"/>
            <a:ext cx="8268478" cy="57340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Compound Scaling</a:t>
            </a:r>
          </a:p>
        </p:txBody>
      </p:sp>
      <p:sp>
        <p:nvSpPr>
          <p:cNvPr name="TextBox 11" id="11"/>
          <p:cNvSpPr txBox="true"/>
          <p:nvPr/>
        </p:nvSpPr>
        <p:spPr>
          <a:xfrm rot="0">
            <a:off x="6909514" y="2700672"/>
            <a:ext cx="10605773" cy="1471930"/>
          </a:xfrm>
          <a:prstGeom prst="rect">
            <a:avLst/>
          </a:prstGeom>
        </p:spPr>
        <p:txBody>
          <a:bodyPr anchor="t" rtlCol="false" tIns="0" lIns="0" bIns="0" rIns="0">
            <a:spAutoFit/>
          </a:bodyPr>
          <a:lstStyle/>
          <a:p>
            <a:pPr algn="l">
              <a:lnSpc>
                <a:spcPts val="3919"/>
              </a:lnSpc>
            </a:pPr>
            <a:r>
              <a:rPr lang="en-US" sz="2799">
                <a:solidFill>
                  <a:srgbClr val="62463C"/>
                </a:solidFill>
                <a:latin typeface="DM Sans"/>
                <a:ea typeface="DM Sans"/>
                <a:cs typeface="DM Sans"/>
                <a:sym typeface="DM Sans"/>
              </a:rPr>
              <a:t>Traditional CNNs scale one thing randomly.</a:t>
            </a:r>
          </a:p>
          <a:p>
            <a:pPr algn="l">
              <a:lnSpc>
                <a:spcPts val="3919"/>
              </a:lnSpc>
            </a:pPr>
            <a:r>
              <a:rPr lang="en-US" sz="2799">
                <a:solidFill>
                  <a:srgbClr val="62463C"/>
                </a:solidFill>
                <a:latin typeface="DM Sans"/>
                <a:ea typeface="DM Sans"/>
                <a:cs typeface="DM Sans"/>
                <a:sym typeface="DM Sans"/>
              </a:rPr>
              <a:t>EfficientNet asks: "If I have 2x more compute, what's the best ratio to distribute it?" → Answer: scale all three, but not equally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610029" y="3720683"/>
            <a:ext cx="11301259" cy="5537617"/>
          </a:xfrm>
          <a:custGeom>
            <a:avLst/>
            <a:gdLst/>
            <a:ahLst/>
            <a:cxnLst/>
            <a:rect r="r" b="b" t="t" l="l"/>
            <a:pathLst>
              <a:path h="5537617" w="11301259">
                <a:moveTo>
                  <a:pt x="0" y="0"/>
                </a:moveTo>
                <a:lnTo>
                  <a:pt x="11301259" y="0"/>
                </a:lnTo>
                <a:lnTo>
                  <a:pt x="11301259" y="5537617"/>
                </a:lnTo>
                <a:lnTo>
                  <a:pt x="0" y="5537617"/>
                </a:lnTo>
                <a:lnTo>
                  <a:pt x="0" y="0"/>
                </a:lnTo>
                <a:close/>
              </a:path>
            </a:pathLst>
          </a:custGeom>
          <a:blipFill>
            <a:blip r:embed="rId4"/>
            <a:stretch>
              <a:fillRect l="0" t="0" r="0" b="0"/>
            </a:stretch>
          </a:blipFill>
        </p:spPr>
      </p:sp>
      <p:sp>
        <p:nvSpPr>
          <p:cNvPr name="TextBox 7" id="7"/>
          <p:cNvSpPr txBox="true"/>
          <p:nvPr/>
        </p:nvSpPr>
        <p:spPr>
          <a:xfrm rot="0">
            <a:off x="1066800" y="1085850"/>
            <a:ext cx="11685428"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Inside EfficientNet</a:t>
            </a:r>
          </a:p>
        </p:txBody>
      </p:sp>
      <p:sp>
        <p:nvSpPr>
          <p:cNvPr name="TextBox 8" id="8"/>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13</a:t>
            </a:r>
          </a:p>
        </p:txBody>
      </p:sp>
      <p:sp>
        <p:nvSpPr>
          <p:cNvPr name="TextBox 9" id="9"/>
          <p:cNvSpPr txBox="true"/>
          <p:nvPr/>
        </p:nvSpPr>
        <p:spPr>
          <a:xfrm rot="0">
            <a:off x="1028700" y="1906775"/>
            <a:ext cx="8268478" cy="573405"/>
          </a:xfrm>
          <a:prstGeom prst="rect">
            <a:avLst/>
          </a:prstGeom>
        </p:spPr>
        <p:txBody>
          <a:bodyPr anchor="t" rtlCol="false" tIns="0" lIns="0" bIns="0" rIns="0">
            <a:spAutoFit/>
          </a:bodyPr>
          <a:lstStyle/>
          <a:p>
            <a:pPr algn="l">
              <a:lnSpc>
                <a:spcPts val="4680"/>
              </a:lnSpc>
            </a:pPr>
            <a:r>
              <a:rPr lang="en-US" sz="3600" b="true">
                <a:solidFill>
                  <a:srgbClr val="62463C"/>
                </a:solidFill>
                <a:latin typeface="DM Sans Bold"/>
                <a:ea typeface="DM Sans Bold"/>
                <a:cs typeface="DM Sans Bold"/>
                <a:sym typeface="DM Sans Bold"/>
              </a:rPr>
              <a:t>Architecture</a:t>
            </a:r>
          </a:p>
        </p:txBody>
      </p:sp>
      <p:sp>
        <p:nvSpPr>
          <p:cNvPr name="TextBox 10" id="10"/>
          <p:cNvSpPr txBox="true"/>
          <p:nvPr/>
        </p:nvSpPr>
        <p:spPr>
          <a:xfrm rot="0">
            <a:off x="11911288" y="4430677"/>
            <a:ext cx="5603999" cy="3453130"/>
          </a:xfrm>
          <a:prstGeom prst="rect">
            <a:avLst/>
          </a:prstGeom>
        </p:spPr>
        <p:txBody>
          <a:bodyPr anchor="t" rtlCol="false" tIns="0" lIns="0" bIns="0" rIns="0">
            <a:spAutoFit/>
          </a:bodyPr>
          <a:lstStyle/>
          <a:p>
            <a:pPr algn="l">
              <a:lnSpc>
                <a:spcPts val="3919"/>
              </a:lnSpc>
            </a:pPr>
            <a:r>
              <a:rPr lang="en-US" sz="2799">
                <a:solidFill>
                  <a:srgbClr val="62463C"/>
                </a:solidFill>
                <a:latin typeface="DM Sans"/>
                <a:ea typeface="DM Sans"/>
                <a:cs typeface="DM Sans"/>
                <a:sym typeface="DM Sans"/>
              </a:rPr>
              <a:t>EfficientNet-B0 serves as the base model.</a:t>
            </a:r>
          </a:p>
          <a:p>
            <a:pPr algn="l">
              <a:lnSpc>
                <a:spcPts val="3919"/>
              </a:lnSpc>
            </a:pPr>
          </a:p>
          <a:p>
            <a:pPr algn="l">
              <a:lnSpc>
                <a:spcPts val="3919"/>
              </a:lnSpc>
            </a:pPr>
            <a:r>
              <a:rPr lang="en-US" sz="2799">
                <a:solidFill>
                  <a:srgbClr val="62463C"/>
                </a:solidFill>
                <a:latin typeface="DM Sans"/>
                <a:ea typeface="DM Sans"/>
                <a:cs typeface="DM Sans"/>
                <a:sym typeface="DM Sans"/>
              </a:rPr>
              <a:t>The later versions, from B1 to B7, are scaled versions of this baseline architecture using compound scaling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4066345" y="3086100"/>
            <a:ext cx="5754965" cy="4114800"/>
          </a:xfrm>
          <a:custGeom>
            <a:avLst/>
            <a:gdLst/>
            <a:ahLst/>
            <a:cxnLst/>
            <a:rect r="r" b="b" t="t" l="l"/>
            <a:pathLst>
              <a:path h="4114800" w="5754965">
                <a:moveTo>
                  <a:pt x="0" y="0"/>
                </a:moveTo>
                <a:lnTo>
                  <a:pt x="5754965" y="0"/>
                </a:lnTo>
                <a:lnTo>
                  <a:pt x="57549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959" y="2684457"/>
            <a:ext cx="13473110" cy="7359686"/>
          </a:xfrm>
          <a:custGeom>
            <a:avLst/>
            <a:gdLst/>
            <a:ahLst/>
            <a:cxnLst/>
            <a:rect r="r" b="b" t="t" l="l"/>
            <a:pathLst>
              <a:path h="7359686" w="13473110">
                <a:moveTo>
                  <a:pt x="0" y="0"/>
                </a:moveTo>
                <a:lnTo>
                  <a:pt x="13473110" y="0"/>
                </a:lnTo>
                <a:lnTo>
                  <a:pt x="13473110" y="7359687"/>
                </a:lnTo>
                <a:lnTo>
                  <a:pt x="0" y="7359687"/>
                </a:lnTo>
                <a:lnTo>
                  <a:pt x="0" y="0"/>
                </a:lnTo>
                <a:close/>
              </a:path>
            </a:pathLst>
          </a:custGeom>
          <a:blipFill>
            <a:blip r:embed="rId6"/>
            <a:stretch>
              <a:fillRect l="0" t="0" r="0" b="0"/>
            </a:stretch>
          </a:blipFill>
        </p:spPr>
      </p:sp>
      <p:sp>
        <p:nvSpPr>
          <p:cNvPr name="TextBox 8" id="8"/>
          <p:cNvSpPr txBox="true"/>
          <p:nvPr/>
        </p:nvSpPr>
        <p:spPr>
          <a:xfrm rot="0">
            <a:off x="1066800" y="1085850"/>
            <a:ext cx="11685428"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EfficientNet's WorkFlow</a:t>
            </a:r>
          </a:p>
        </p:txBody>
      </p:sp>
      <p:sp>
        <p:nvSpPr>
          <p:cNvPr name="TextBox 9" id="9"/>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grpSp>
        <p:nvGrpSpPr>
          <p:cNvPr name="Group 3" id="3"/>
          <p:cNvGrpSpPr/>
          <p:nvPr/>
        </p:nvGrpSpPr>
        <p:grpSpPr>
          <a:xfrm rot="0">
            <a:off x="-197562" y="2480180"/>
            <a:ext cx="18683125" cy="8066095"/>
            <a:chOff x="0" y="0"/>
            <a:chExt cx="4920658" cy="2124404"/>
          </a:xfrm>
        </p:grpSpPr>
        <p:sp>
          <p:nvSpPr>
            <p:cNvPr name="Freeform 4" id="4"/>
            <p:cNvSpPr/>
            <p:nvPr/>
          </p:nvSpPr>
          <p:spPr>
            <a:xfrm flipH="false" flipV="false" rot="0">
              <a:off x="0" y="0"/>
              <a:ext cx="4920658" cy="2124404"/>
            </a:xfrm>
            <a:custGeom>
              <a:avLst/>
              <a:gdLst/>
              <a:ahLst/>
              <a:cxnLst/>
              <a:rect r="r" b="b" t="t" l="l"/>
              <a:pathLst>
                <a:path h="2124404" w="4920658">
                  <a:moveTo>
                    <a:pt x="0" y="0"/>
                  </a:moveTo>
                  <a:lnTo>
                    <a:pt x="4920658" y="0"/>
                  </a:lnTo>
                  <a:lnTo>
                    <a:pt x="4920658" y="2124404"/>
                  </a:lnTo>
                  <a:lnTo>
                    <a:pt x="0" y="2124404"/>
                  </a:lnTo>
                  <a:close/>
                </a:path>
              </a:pathLst>
            </a:custGeom>
            <a:solidFill>
              <a:srgbClr val="FFFBF8"/>
            </a:solidFill>
          </p:spPr>
        </p:sp>
        <p:sp>
          <p:nvSpPr>
            <p:cNvPr name="TextBox 5" id="5"/>
            <p:cNvSpPr txBox="true"/>
            <p:nvPr/>
          </p:nvSpPr>
          <p:spPr>
            <a:xfrm>
              <a:off x="0" y="-38100"/>
              <a:ext cx="4920658" cy="21625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7310363" y="5143500"/>
            <a:ext cx="3667273" cy="1773627"/>
          </a:xfrm>
          <a:custGeom>
            <a:avLst/>
            <a:gdLst/>
            <a:ahLst/>
            <a:cxnLst/>
            <a:rect r="r" b="b" t="t" l="l"/>
            <a:pathLst>
              <a:path h="1773627" w="3667273">
                <a:moveTo>
                  <a:pt x="0" y="0"/>
                </a:moveTo>
                <a:lnTo>
                  <a:pt x="3667274" y="0"/>
                </a:lnTo>
                <a:lnTo>
                  <a:pt x="3667274" y="1773627"/>
                </a:lnTo>
                <a:lnTo>
                  <a:pt x="0" y="17736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66800" y="1085850"/>
            <a:ext cx="11685428" cy="795020"/>
          </a:xfrm>
          <a:prstGeom prst="rect">
            <a:avLst/>
          </a:prstGeom>
        </p:spPr>
        <p:txBody>
          <a:bodyPr anchor="t" rtlCol="false" tIns="0" lIns="0" bIns="0" rIns="0">
            <a:spAutoFit/>
          </a:bodyPr>
          <a:lstStyle/>
          <a:p>
            <a:pPr algn="l">
              <a:lnSpc>
                <a:spcPts val="6160"/>
              </a:lnSpc>
            </a:pPr>
            <a:r>
              <a:rPr lang="en-US" sz="5600" b="true">
                <a:solidFill>
                  <a:srgbClr val="62463C"/>
                </a:solidFill>
                <a:latin typeface="DM Sans Bold"/>
                <a:ea typeface="DM Sans Bold"/>
                <a:cs typeface="DM Sans Bold"/>
                <a:sym typeface="DM Sans Bold"/>
              </a:rPr>
              <a:t>Demo</a:t>
            </a:r>
          </a:p>
        </p:txBody>
      </p:sp>
      <p:sp>
        <p:nvSpPr>
          <p:cNvPr name="TextBox 8" id="8"/>
          <p:cNvSpPr txBox="true"/>
          <p:nvPr/>
        </p:nvSpPr>
        <p:spPr>
          <a:xfrm rot="0">
            <a:off x="16509306" y="9050655"/>
            <a:ext cx="749994" cy="481965"/>
          </a:xfrm>
          <a:prstGeom prst="rect">
            <a:avLst/>
          </a:prstGeom>
        </p:spPr>
        <p:txBody>
          <a:bodyPr anchor="t" rtlCol="false" tIns="0" lIns="0" bIns="0" rIns="0">
            <a:spAutoFit/>
          </a:bodyPr>
          <a:lstStyle/>
          <a:p>
            <a:pPr algn="r">
              <a:lnSpc>
                <a:spcPts val="3600"/>
              </a:lnSpc>
            </a:pPr>
            <a:r>
              <a:rPr lang="en-US" sz="3600">
                <a:solidFill>
                  <a:srgbClr val="62463C"/>
                </a:solidFill>
                <a:latin typeface="DM Sans"/>
                <a:ea typeface="DM Sans"/>
                <a:cs typeface="DM Sans"/>
                <a:sym typeface="DM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2E9"/>
        </a:solidFill>
      </p:bgPr>
    </p:bg>
    <p:spTree>
      <p:nvGrpSpPr>
        <p:cNvPr id="1" name=""/>
        <p:cNvGrpSpPr/>
        <p:nvPr/>
      </p:nvGrpSpPr>
      <p:grpSpPr>
        <a:xfrm>
          <a:off x="0" y="0"/>
          <a:ext cx="0" cy="0"/>
          <a:chOff x="0" y="0"/>
          <a:chExt cx="0" cy="0"/>
        </a:xfrm>
      </p:grpSpPr>
      <p:sp>
        <p:nvSpPr>
          <p:cNvPr name="Freeform 2" id="2"/>
          <p:cNvSpPr/>
          <p:nvPr/>
        </p:nvSpPr>
        <p:spPr>
          <a:xfrm flipH="false" flipV="true" rot="0">
            <a:off x="-338532" y="-531578"/>
            <a:ext cx="19021657" cy="7637513"/>
          </a:xfrm>
          <a:custGeom>
            <a:avLst/>
            <a:gdLst/>
            <a:ahLst/>
            <a:cxnLst/>
            <a:rect r="r" b="b" t="t" l="l"/>
            <a:pathLst>
              <a:path h="7637513" w="19021657">
                <a:moveTo>
                  <a:pt x="0" y="7637513"/>
                </a:moveTo>
                <a:lnTo>
                  <a:pt x="19021657" y="7637513"/>
                </a:lnTo>
                <a:lnTo>
                  <a:pt x="19021657" y="0"/>
                </a:lnTo>
                <a:lnTo>
                  <a:pt x="0" y="0"/>
                </a:lnTo>
                <a:lnTo>
                  <a:pt x="0" y="7637513"/>
                </a:lnTo>
                <a:close/>
              </a:path>
            </a:pathLst>
          </a:custGeom>
          <a:blipFill>
            <a:blip r:embed="rId2">
              <a:extLst>
                <a:ext uri="{96DAC541-7B7A-43D3-8B79-37D633B846F1}">
                  <asvg:svgBlip xmlns:asvg="http://schemas.microsoft.com/office/drawing/2016/SVG/main" r:embed="rId3"/>
                </a:ext>
              </a:extLst>
            </a:blip>
            <a:stretch>
              <a:fillRect l="0" t="-149055" r="0" b="0"/>
            </a:stretch>
          </a:blipFill>
        </p:spPr>
      </p:sp>
      <p:sp>
        <p:nvSpPr>
          <p:cNvPr name="Freeform 3" id="3"/>
          <p:cNvSpPr/>
          <p:nvPr/>
        </p:nvSpPr>
        <p:spPr>
          <a:xfrm flipH="false" flipV="false" rot="0">
            <a:off x="14021381" y="2514885"/>
            <a:ext cx="5233450" cy="4114800"/>
          </a:xfrm>
          <a:custGeom>
            <a:avLst/>
            <a:gdLst/>
            <a:ahLst/>
            <a:cxnLst/>
            <a:rect r="r" b="b" t="t" l="l"/>
            <a:pathLst>
              <a:path h="4114800" w="5233450">
                <a:moveTo>
                  <a:pt x="0" y="0"/>
                </a:moveTo>
                <a:lnTo>
                  <a:pt x="5233450" y="0"/>
                </a:lnTo>
                <a:lnTo>
                  <a:pt x="52334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537374" y="5566280"/>
            <a:ext cx="4219451" cy="3692020"/>
          </a:xfrm>
          <a:custGeom>
            <a:avLst/>
            <a:gdLst/>
            <a:ahLst/>
            <a:cxnLst/>
            <a:rect r="r" b="b" t="t" l="l"/>
            <a:pathLst>
              <a:path h="3692020" w="4219451">
                <a:moveTo>
                  <a:pt x="4219452" y="0"/>
                </a:moveTo>
                <a:lnTo>
                  <a:pt x="0" y="0"/>
                </a:lnTo>
                <a:lnTo>
                  <a:pt x="0" y="3692020"/>
                </a:lnTo>
                <a:lnTo>
                  <a:pt x="4219452" y="3692020"/>
                </a:lnTo>
                <a:lnTo>
                  <a:pt x="421945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838303" y="5394284"/>
            <a:ext cx="3507867" cy="4114800"/>
          </a:xfrm>
          <a:custGeom>
            <a:avLst/>
            <a:gdLst/>
            <a:ahLst/>
            <a:cxnLst/>
            <a:rect r="r" b="b" t="t" l="l"/>
            <a:pathLst>
              <a:path h="4114800" w="3507867">
                <a:moveTo>
                  <a:pt x="0" y="0"/>
                </a:moveTo>
                <a:lnTo>
                  <a:pt x="3507867" y="0"/>
                </a:lnTo>
                <a:lnTo>
                  <a:pt x="350786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028700" y="904875"/>
            <a:ext cx="16230600" cy="1930406"/>
          </a:xfrm>
          <a:prstGeom prst="rect">
            <a:avLst/>
          </a:prstGeom>
        </p:spPr>
        <p:txBody>
          <a:bodyPr anchor="t" rtlCol="false" tIns="0" lIns="0" bIns="0" rIns="0">
            <a:spAutoFit/>
          </a:bodyPr>
          <a:lstStyle/>
          <a:p>
            <a:pPr algn="l">
              <a:lnSpc>
                <a:spcPts val="14043"/>
              </a:lnSpc>
            </a:pPr>
            <a:r>
              <a:rPr lang="en-US" sz="15604" b="true">
                <a:solidFill>
                  <a:srgbClr val="62463C"/>
                </a:solidFill>
                <a:latin typeface="DM Sans Bold"/>
                <a:ea typeface="DM Sans Bold"/>
                <a:cs typeface="DM Sans Bold"/>
                <a:sym typeface="DM Sans Bold"/>
              </a:rPr>
              <a:t>The End</a:t>
            </a:r>
          </a:p>
        </p:txBody>
      </p:sp>
      <p:sp>
        <p:nvSpPr>
          <p:cNvPr name="TextBox 7" id="7"/>
          <p:cNvSpPr txBox="true"/>
          <p:nvPr/>
        </p:nvSpPr>
        <p:spPr>
          <a:xfrm rot="0">
            <a:off x="1076325" y="2996215"/>
            <a:ext cx="7752103" cy="795020"/>
          </a:xfrm>
          <a:prstGeom prst="rect">
            <a:avLst/>
          </a:prstGeom>
        </p:spPr>
        <p:txBody>
          <a:bodyPr anchor="t" rtlCol="false" tIns="0" lIns="0" bIns="0" rIns="0">
            <a:spAutoFit/>
          </a:bodyPr>
          <a:lstStyle/>
          <a:p>
            <a:pPr algn="l">
              <a:lnSpc>
                <a:spcPts val="6160"/>
              </a:lnSpc>
            </a:pPr>
            <a:r>
              <a:rPr lang="en-US" sz="5600">
                <a:solidFill>
                  <a:srgbClr val="62463C"/>
                </a:solidFill>
                <a:latin typeface="DM Sans"/>
                <a:ea typeface="DM Sans"/>
                <a:cs typeface="DM Sans"/>
                <a:sym typeface="DM Sans"/>
              </a:rPr>
              <a:t>Thank You for Listening</a:t>
            </a:r>
          </a:p>
        </p:txBody>
      </p:sp>
      <p:sp>
        <p:nvSpPr>
          <p:cNvPr name="TextBox 8" id="8"/>
          <p:cNvSpPr txBox="true"/>
          <p:nvPr/>
        </p:nvSpPr>
        <p:spPr>
          <a:xfrm rot="0">
            <a:off x="1066800" y="8776335"/>
            <a:ext cx="3360723" cy="481965"/>
          </a:xfrm>
          <a:prstGeom prst="rect">
            <a:avLst/>
          </a:prstGeom>
        </p:spPr>
        <p:txBody>
          <a:bodyPr anchor="t" rtlCol="false" tIns="0" lIns="0" bIns="0" rIns="0">
            <a:spAutoFit/>
          </a:bodyPr>
          <a:lstStyle/>
          <a:p>
            <a:pPr algn="l">
              <a:lnSpc>
                <a:spcPts val="3600"/>
              </a:lnSpc>
            </a:pPr>
            <a:r>
              <a:rPr lang="en-US" sz="3600" b="true">
                <a:solidFill>
                  <a:srgbClr val="62463C"/>
                </a:solidFill>
                <a:latin typeface="DM Sans Bold"/>
                <a:ea typeface="DM Sans Bold"/>
                <a:cs typeface="DM Sans Bold"/>
                <a:sym typeface="DM Sans Bold"/>
              </a:rPr>
              <a:t>Tiffany Owen</a:t>
            </a:r>
          </a:p>
        </p:txBody>
      </p:sp>
      <p:sp>
        <p:nvSpPr>
          <p:cNvPr name="TextBox 9" id="9"/>
          <p:cNvSpPr txBox="true"/>
          <p:nvPr/>
        </p:nvSpPr>
        <p:spPr>
          <a:xfrm rot="0">
            <a:off x="5565738" y="8776335"/>
            <a:ext cx="3360723" cy="481965"/>
          </a:xfrm>
          <a:prstGeom prst="rect">
            <a:avLst/>
          </a:prstGeom>
        </p:spPr>
        <p:txBody>
          <a:bodyPr anchor="t" rtlCol="false" tIns="0" lIns="0" bIns="0" rIns="0">
            <a:spAutoFit/>
          </a:bodyPr>
          <a:lstStyle/>
          <a:p>
            <a:pPr algn="l">
              <a:lnSpc>
                <a:spcPts val="3600"/>
              </a:lnSpc>
            </a:pPr>
            <a:r>
              <a:rPr lang="en-US" sz="3600">
                <a:solidFill>
                  <a:srgbClr val="62463C"/>
                </a:solidFill>
                <a:latin typeface="DM Sans"/>
                <a:ea typeface="DM Sans"/>
                <a:cs typeface="DM Sans"/>
                <a:sym typeface="DM Sans"/>
              </a:rPr>
              <a:t>2024 January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DAHJYJU3EWo</dc:identifier>
  <dcterms:modified xsi:type="dcterms:W3CDTF">2011-08-01T06:04:30Z</dcterms:modified>
  <cp:revision>1</cp:revision>
  <dc:title>Hagrid</dc:title>
</cp:coreProperties>
</file>